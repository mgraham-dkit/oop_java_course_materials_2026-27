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68" r:id="rId3"/>
    <p:sldId id="269" r:id="rId4"/>
    <p:sldId id="271" r:id="rId5"/>
    <p:sldId id="276" r:id="rId6"/>
    <p:sldId id="275" r:id="rId7"/>
    <p:sldId id="284" r:id="rId8"/>
    <p:sldId id="286" r:id="rId9"/>
    <p:sldId id="287" r:id="rId10"/>
    <p:sldId id="278" r:id="rId11"/>
    <p:sldId id="280" r:id="rId12"/>
    <p:sldId id="281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8E2498-EC2B-4A18-AB44-2258DF35F0C3}">
          <p14:sldIdLst>
            <p14:sldId id="256"/>
          </p14:sldIdLst>
        </p14:section>
        <p14:section name="Controlling class construction" id="{C90747F8-D556-4FB8-BDE6-F1F2EE2E62DF}">
          <p14:sldIdLst>
            <p14:sldId id="268"/>
            <p14:sldId id="269"/>
            <p14:sldId id="271"/>
            <p14:sldId id="276"/>
          </p14:sldIdLst>
        </p14:section>
        <p14:section name="Accessibility in classes" id="{D53F34A1-921C-4E25-8314-5E7099B26CE3}">
          <p14:sldIdLst>
            <p14:sldId id="275"/>
            <p14:sldId id="284"/>
            <p14:sldId id="286"/>
            <p14:sldId id="287"/>
          </p14:sldIdLst>
        </p14:section>
        <p14:section name="Accessing Encapsulated Components" id="{9D23DF70-97B5-47C0-913B-02FF3E7F2F79}">
          <p14:sldIdLst>
            <p14:sldId id="278"/>
            <p14:sldId id="280"/>
            <p14:sldId id="281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D3D1A-9DC1-466B-BB4B-D86B8DB120DE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DC770-49D2-4C9A-A9B4-05E74D4D984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4287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DC770-49D2-4C9A-A9B4-05E74D4D9846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754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18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77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9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847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146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130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667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695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043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206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998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EC7C34-F4EF-4F0A-B9AE-A8DDABF3D064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3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25EA-35FD-5B3A-565F-DBB0C0837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Controlling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76B09-493F-C866-242B-21077174A3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Initialisation and Encapsulation</a:t>
            </a:r>
          </a:p>
        </p:txBody>
      </p:sp>
    </p:spTree>
    <p:extLst>
      <p:ext uri="{BB962C8B-B14F-4D97-AF65-F5344CB8AC3E}">
        <p14:creationId xmlns:p14="http://schemas.microsoft.com/office/powerpoint/2010/main" val="191902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18F7-208D-9349-A203-49B042B8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Customising Object Creation:</a:t>
            </a:r>
            <a:br>
              <a:rPr lang="en-IE" dirty="0"/>
            </a:br>
            <a:r>
              <a:rPr lang="en-IE" dirty="0"/>
              <a:t>Defining a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2E6E-7037-FEC5-4BFA-560315A7C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27263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Sometimes we don’t WANT to initialise (create) our instance (object) with a set of default values</a:t>
            </a:r>
          </a:p>
          <a:p>
            <a:pPr lvl="2"/>
            <a:r>
              <a:rPr lang="en-IE" sz="2800" dirty="0"/>
              <a:t>Why build something with X, Y and Z values, then immediately overwrite them?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create a completely custom instance, we need to write a </a:t>
            </a:r>
            <a:r>
              <a:rPr lang="en-IE" sz="3200" dirty="0">
                <a:solidFill>
                  <a:srgbClr val="FF0000"/>
                </a:solidFill>
              </a:rPr>
              <a:t>constructor</a:t>
            </a:r>
          </a:p>
          <a:p>
            <a:pPr lvl="2"/>
            <a:r>
              <a:rPr lang="en-IE" sz="2800" dirty="0"/>
              <a:t>Constructor: A special method within a class that specifies the way to build an instance of that class</a:t>
            </a:r>
          </a:p>
          <a:p>
            <a:pPr lvl="2"/>
            <a:r>
              <a:rPr lang="en-IE" sz="2800" dirty="0"/>
              <a:t>Objects built using a constructor will base their starting information on the values given as parameters</a:t>
            </a:r>
          </a:p>
        </p:txBody>
      </p:sp>
    </p:spTree>
    <p:extLst>
      <p:ext uri="{BB962C8B-B14F-4D97-AF65-F5344CB8AC3E}">
        <p14:creationId xmlns:p14="http://schemas.microsoft.com/office/powerpoint/2010/main" val="197949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0505-C30E-0265-BFF2-B040DA8D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Rules of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1832-EAA3-3ABC-BAC6-EC15850FA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801691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Some rules:</a:t>
            </a:r>
          </a:p>
          <a:p>
            <a:pPr lvl="2"/>
            <a:r>
              <a:rPr lang="en-IE" sz="2800" dirty="0"/>
              <a:t>The constructor name </a:t>
            </a:r>
            <a:r>
              <a:rPr lang="en-IE" sz="2800" b="1" u="sng" dirty="0"/>
              <a:t>must</a:t>
            </a:r>
            <a:r>
              <a:rPr lang="en-IE" sz="2800" dirty="0"/>
              <a:t> match the name of the class</a:t>
            </a:r>
          </a:p>
          <a:p>
            <a:pPr lvl="2"/>
            <a:r>
              <a:rPr lang="en-IE" sz="2800" dirty="0"/>
              <a:t>The constructor can </a:t>
            </a:r>
            <a:r>
              <a:rPr lang="en-IE" sz="2800" b="1" u="sng" dirty="0"/>
              <a:t>never</a:t>
            </a:r>
            <a:r>
              <a:rPr lang="en-IE" sz="2800" dirty="0"/>
              <a:t> return a value </a:t>
            </a:r>
          </a:p>
          <a:p>
            <a:pPr lvl="2"/>
            <a:endParaRPr lang="en-IE" sz="1600" dirty="0"/>
          </a:p>
          <a:p>
            <a:pPr lvl="1"/>
            <a:r>
              <a:rPr lang="en-IE" sz="3200" dirty="0"/>
              <a:t>Syntax: </a:t>
            </a:r>
            <a:br>
              <a:rPr lang="en-IE" sz="3200" dirty="0"/>
            </a:br>
            <a:r>
              <a:rPr lang="en-IE" sz="3200" dirty="0"/>
              <a:t>	</a:t>
            </a:r>
            <a:r>
              <a:rPr lang="en-IE" sz="28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IE" sz="2800" dirty="0">
                <a:latin typeface="Consolas" panose="020B0609020204030204" pitchFamily="49" charset="0"/>
              </a:rPr>
              <a:t> </a:t>
            </a:r>
            <a:r>
              <a:rPr lang="en-IE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IE" sz="2800" dirty="0">
                <a:latin typeface="Consolas" panose="020B0609020204030204" pitchFamily="49" charset="0"/>
              </a:rPr>
              <a:t>(type </a:t>
            </a:r>
            <a:r>
              <a:rPr lang="en-IE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param1, type param2…</a:t>
            </a:r>
            <a:r>
              <a:rPr lang="en-IE" sz="2800" dirty="0">
                <a:latin typeface="Consolas" panose="020B0609020204030204" pitchFamily="49" charset="0"/>
              </a:rPr>
              <a:t>){</a:t>
            </a:r>
            <a:br>
              <a:rPr lang="en-IE" sz="2800" dirty="0">
                <a:latin typeface="Consolas" panose="020B0609020204030204" pitchFamily="49" charset="0"/>
              </a:rPr>
            </a:br>
            <a:r>
              <a:rPr lang="en-IE" sz="2800" dirty="0">
                <a:latin typeface="Consolas" panose="020B0609020204030204" pitchFamily="49" charset="0"/>
              </a:rPr>
              <a:t>		// Logic</a:t>
            </a:r>
          </a:p>
          <a:p>
            <a:pPr marL="201168" lvl="1" indent="0">
              <a:buNone/>
            </a:pPr>
            <a:r>
              <a:rPr lang="en-IE" sz="2800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534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CB306F-4F02-B341-E931-698F82778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898" y="4439786"/>
            <a:ext cx="7338204" cy="17379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BEBD7-41D3-B786-2606-F2855EAD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Purpose of the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AE88-085B-EC41-C9FC-4BC595479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681196"/>
          </a:xfrm>
        </p:spPr>
        <p:txBody>
          <a:bodyPr>
            <a:normAutofit fontScale="62500" lnSpcReduction="20000"/>
          </a:bodyPr>
          <a:lstStyle/>
          <a:p>
            <a:pPr lvl="1"/>
            <a:r>
              <a:rPr lang="en-IE" sz="3200" dirty="0"/>
              <a:t>Constructors take in values for the parts of an object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The constructor will store the values of these parameters in their corresponding attributes</a:t>
            </a:r>
          </a:p>
          <a:p>
            <a:pPr lvl="2"/>
            <a:r>
              <a:rPr lang="en-IE" sz="2400" dirty="0"/>
              <a:t>Sets up that attribute with the supplied value</a:t>
            </a:r>
          </a:p>
          <a:p>
            <a:pPr lvl="2"/>
            <a:endParaRPr lang="en-IE" sz="2300" dirty="0"/>
          </a:p>
          <a:p>
            <a:pPr lvl="1"/>
            <a:r>
              <a:rPr lang="en-IE" sz="3200" dirty="0"/>
              <a:t>You can include </a:t>
            </a:r>
            <a:r>
              <a:rPr lang="en-IE" sz="3200" dirty="0">
                <a:solidFill>
                  <a:srgbClr val="FF0000"/>
                </a:solidFill>
              </a:rPr>
              <a:t>any combination</a:t>
            </a:r>
            <a:r>
              <a:rPr lang="en-IE" sz="3200" dirty="0"/>
              <a:t> of attribute information as parameters</a:t>
            </a:r>
          </a:p>
          <a:p>
            <a:pPr lvl="2"/>
            <a:r>
              <a:rPr lang="en-IE" sz="2800" dirty="0"/>
              <a:t>You can include no parameters</a:t>
            </a:r>
          </a:p>
          <a:p>
            <a:pPr lvl="2"/>
            <a:r>
              <a:rPr lang="en-IE" sz="2800" dirty="0"/>
              <a:t>You can include parameters for all attributes</a:t>
            </a:r>
          </a:p>
          <a:p>
            <a:pPr lvl="2"/>
            <a:r>
              <a:rPr lang="en-IE" sz="2800" dirty="0"/>
              <a:t>You can include parameters for some attributes and set others to default values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E3E427-7038-4A61-CB6B-6D4B5F7BE954}"/>
              </a:ext>
            </a:extLst>
          </p:cNvPr>
          <p:cNvGrpSpPr/>
          <p:nvPr/>
        </p:nvGrpSpPr>
        <p:grpSpPr>
          <a:xfrm>
            <a:off x="6579831" y="4988897"/>
            <a:ext cx="3065652" cy="766293"/>
            <a:chOff x="8026494" y="5074033"/>
            <a:chExt cx="3065652" cy="766293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F056920-E835-6585-867B-2DA8BC5D208F}"/>
                </a:ext>
              </a:extLst>
            </p:cNvPr>
            <p:cNvSpPr/>
            <p:nvPr/>
          </p:nvSpPr>
          <p:spPr>
            <a:xfrm>
              <a:off x="8026494" y="5074033"/>
              <a:ext cx="334851" cy="76629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B5E019-188D-D835-A029-08204899CCEB}"/>
                </a:ext>
              </a:extLst>
            </p:cNvPr>
            <p:cNvSpPr txBox="1"/>
            <p:nvPr/>
          </p:nvSpPr>
          <p:spPr>
            <a:xfrm>
              <a:off x="8361346" y="5134013"/>
              <a:ext cx="273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Each parameter is stored in its corresponding attribute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76DF81-B23D-8D89-4672-9C52EA02F5B4}"/>
              </a:ext>
            </a:extLst>
          </p:cNvPr>
          <p:cNvSpPr/>
          <p:nvPr/>
        </p:nvSpPr>
        <p:spPr>
          <a:xfrm>
            <a:off x="6498566" y="5993378"/>
            <a:ext cx="5267864" cy="5866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Commented version on </a:t>
            </a:r>
            <a:r>
              <a:rPr lang="en-IE" dirty="0" err="1"/>
              <a:t>moodle</a:t>
            </a:r>
            <a:r>
              <a:rPr lang="en-IE" dirty="0"/>
              <a:t>:</a:t>
            </a:r>
          </a:p>
          <a:p>
            <a:pPr algn="ctr"/>
            <a:r>
              <a:rPr lang="en-IE" dirty="0" err="1"/>
              <a:t>constructors_and_encapsulation</a:t>
            </a:r>
            <a:r>
              <a:rPr lang="en-IE" dirty="0"/>
              <a:t>/entities/House.java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622851-6156-7161-BB43-55424948D8E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225615" y="5409515"/>
            <a:ext cx="724619" cy="237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AE2483-4F77-5DF5-0D05-EC70AE238D6D}"/>
              </a:ext>
            </a:extLst>
          </p:cNvPr>
          <p:cNvSpPr txBox="1"/>
          <p:nvPr/>
        </p:nvSpPr>
        <p:spPr>
          <a:xfrm>
            <a:off x="299049" y="4809350"/>
            <a:ext cx="1926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en-IE" dirty="0"/>
              <a:t> lets us use the instance variable belonging to THIS object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C62024-0144-5FB3-7955-AD5C71FE157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225615" y="5331125"/>
            <a:ext cx="724619" cy="78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CD18DE-CE8F-D423-DCD7-72BF238D5F8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225615" y="4988897"/>
            <a:ext cx="724619" cy="420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43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8001-A436-B8B1-EFFD-81830046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Building a Person Using Our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9EB1B-1CE4-4378-A42E-E00E792B0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57316" cy="4023360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To create an object/instance using a parameterised constructor, we supply values in place of each parameter:</a:t>
            </a:r>
          </a:p>
          <a:p>
            <a:pPr lvl="1"/>
            <a:r>
              <a:rPr lang="en-IE" sz="3200" dirty="0"/>
              <a:t>Syntax: </a:t>
            </a:r>
            <a:br>
              <a:rPr lang="en-IE" sz="3200" dirty="0"/>
            </a:br>
            <a:r>
              <a:rPr lang="en-IE" sz="2800" dirty="0" err="1">
                <a:latin typeface="Consolas" panose="020B0609020204030204" pitchFamily="49" charset="0"/>
              </a:rPr>
              <a:t>ClassName</a:t>
            </a:r>
            <a:r>
              <a:rPr lang="en-IE" sz="2800" dirty="0">
                <a:latin typeface="Consolas" panose="020B0609020204030204" pitchFamily="49" charset="0"/>
              </a:rPr>
              <a:t> </a:t>
            </a:r>
            <a:r>
              <a:rPr lang="en-IE" sz="2800" dirty="0" err="1">
                <a:latin typeface="Consolas" panose="020B0609020204030204" pitchFamily="49" charset="0"/>
              </a:rPr>
              <a:t>instance_name</a:t>
            </a:r>
            <a:r>
              <a:rPr lang="en-IE" sz="2800" dirty="0">
                <a:latin typeface="Consolas" panose="020B0609020204030204" pitchFamily="49" charset="0"/>
              </a:rPr>
              <a:t> = </a:t>
            </a:r>
            <a:br>
              <a:rPr lang="en-IE" sz="2800" dirty="0">
                <a:latin typeface="Consolas" panose="020B0609020204030204" pitchFamily="49" charset="0"/>
              </a:rPr>
            </a:br>
            <a:r>
              <a:rPr lang="en-IE" sz="2800" dirty="0">
                <a:latin typeface="Consolas" panose="020B0609020204030204" pitchFamily="49" charset="0"/>
              </a:rPr>
              <a:t>			new </a:t>
            </a:r>
            <a:r>
              <a:rPr lang="en-IE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IE" sz="28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IE" sz="2800" dirty="0">
                <a:latin typeface="Consolas" panose="020B0609020204030204" pitchFamily="49" charset="0"/>
              </a:rPr>
              <a:t>value1, value2…</a:t>
            </a:r>
            <a:r>
              <a:rPr lang="en-IE" sz="28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IE" sz="2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endParaRPr lang="en-IE" sz="3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F19AE1-7EA3-67D5-61D0-93F73E62B4A2}"/>
              </a:ext>
            </a:extLst>
          </p:cNvPr>
          <p:cNvSpPr/>
          <p:nvPr/>
        </p:nvSpPr>
        <p:spPr>
          <a:xfrm>
            <a:off x="534839" y="5481820"/>
            <a:ext cx="5722188" cy="5866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Commented version on </a:t>
            </a:r>
            <a:r>
              <a:rPr lang="en-IE" dirty="0" err="1"/>
              <a:t>moodle</a:t>
            </a:r>
            <a:r>
              <a:rPr lang="en-IE" dirty="0"/>
              <a:t>:</a:t>
            </a:r>
          </a:p>
          <a:p>
            <a:pPr algn="ctr"/>
            <a:r>
              <a:rPr lang="en-IE" dirty="0" err="1"/>
              <a:t>constructors_and_encapsulation</a:t>
            </a:r>
            <a:r>
              <a:rPr lang="en-IE" dirty="0"/>
              <a:t>/apps/HouseTestBed.java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D9FBCB-79F7-C3B9-419F-C2BE83B7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68" y="4108353"/>
            <a:ext cx="8475740" cy="11261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6D6F7B-2578-B19F-154A-4EEE34ED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89" y="4560000"/>
            <a:ext cx="3324048" cy="159632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E97309-5EB8-B976-7A63-D61FF937ECB0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6470389" y="5282493"/>
            <a:ext cx="1793717" cy="199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EFF95D-B379-D193-501F-03CDB66C76A2}"/>
              </a:ext>
            </a:extLst>
          </p:cNvPr>
          <p:cNvSpPr txBox="1"/>
          <p:nvPr/>
        </p:nvSpPr>
        <p:spPr>
          <a:xfrm>
            <a:off x="5424301" y="4913161"/>
            <a:ext cx="209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Output of the above</a:t>
            </a:r>
          </a:p>
        </p:txBody>
      </p:sp>
    </p:spTree>
    <p:extLst>
      <p:ext uri="{BB962C8B-B14F-4D97-AF65-F5344CB8AC3E}">
        <p14:creationId xmlns:p14="http://schemas.microsoft.com/office/powerpoint/2010/main" val="265513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89E0-45C7-2E2B-7CD8-AC468FA5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Note on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8DFDD-FEDD-2495-06DE-01157FF7A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E" sz="3200" dirty="0"/>
              <a:t>Currently, all attributes and methods in our classes are </a:t>
            </a:r>
            <a:r>
              <a:rPr lang="en-IE" sz="3200" b="1" i="1" u="sng" dirty="0"/>
              <a:t>public</a:t>
            </a:r>
          </a:p>
          <a:p>
            <a:pPr lvl="2"/>
            <a:r>
              <a:rPr lang="en-IE" sz="2800" dirty="0"/>
              <a:t>Any code using this class can view and change all its information</a:t>
            </a:r>
          </a:p>
          <a:p>
            <a:pPr lvl="2"/>
            <a:r>
              <a:rPr lang="en-IE" sz="2800" dirty="0"/>
              <a:t>Any code using this class can run all its methods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This is not always desirable:</a:t>
            </a:r>
          </a:p>
          <a:p>
            <a:pPr lvl="2"/>
            <a:r>
              <a:rPr lang="en-IE" sz="2800" dirty="0"/>
              <a:t>The data may be sensitive</a:t>
            </a:r>
          </a:p>
          <a:p>
            <a:pPr lvl="2"/>
            <a:r>
              <a:rPr lang="en-IE" sz="2800" dirty="0"/>
              <a:t>We may want to control how the information is changed</a:t>
            </a:r>
          </a:p>
          <a:p>
            <a:pPr lvl="2"/>
            <a:r>
              <a:rPr lang="en-IE" sz="2800" dirty="0"/>
              <a:t>We may want to control what can run a method</a:t>
            </a:r>
          </a:p>
        </p:txBody>
      </p:sp>
    </p:spTree>
    <p:extLst>
      <p:ext uri="{BB962C8B-B14F-4D97-AF65-F5344CB8AC3E}">
        <p14:creationId xmlns:p14="http://schemas.microsoft.com/office/powerpoint/2010/main" val="117545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F7AE-FE70-F366-8B2F-1FB5DF03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Encapsulation: Protecting Information &amp; Controlling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EDC9-96F6-9276-1B26-5D1BAC38B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3200" b="1" dirty="0"/>
              <a:t>Modifier</a:t>
            </a:r>
            <a:r>
              <a:rPr lang="en-IE" sz="3200" dirty="0"/>
              <a:t>: a keyword used to encapsulate/control access to an attribute/method</a:t>
            </a:r>
          </a:p>
          <a:p>
            <a:pPr lvl="2"/>
            <a:r>
              <a:rPr lang="en-IE" sz="2800" dirty="0"/>
              <a:t>Modifiers on attributes control who can access them</a:t>
            </a:r>
          </a:p>
          <a:p>
            <a:pPr lvl="2"/>
            <a:r>
              <a:rPr lang="en-IE" sz="2800" dirty="0"/>
              <a:t>Modifiers on methods control who can call/run them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Java’s modifiers: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IE" sz="2800" dirty="0"/>
              <a:t> : Accessible by every piece of code in the code base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  <a:latin typeface="Consolas" panose="020B0609020204030204" pitchFamily="49" charset="0"/>
              </a:rPr>
              <a:t>private</a:t>
            </a:r>
            <a:r>
              <a:rPr lang="en-IE" sz="2800" dirty="0">
                <a:solidFill>
                  <a:srgbClr val="FF0000"/>
                </a:solidFill>
              </a:rPr>
              <a:t>: </a:t>
            </a:r>
            <a:r>
              <a:rPr lang="en-IE" sz="2800" dirty="0"/>
              <a:t>Locked – only code within the same class can use it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  <a:latin typeface="Consolas" panose="020B0609020204030204" pitchFamily="49" charset="0"/>
              </a:rPr>
              <a:t>protected</a:t>
            </a:r>
            <a:r>
              <a:rPr lang="en-IE" sz="2800" dirty="0"/>
              <a:t>: Locked - only code within the same class or subclasses can use it</a:t>
            </a:r>
          </a:p>
          <a:p>
            <a:pPr lvl="2"/>
            <a:r>
              <a:rPr lang="en-IE" sz="2800" i="1" dirty="0"/>
              <a:t>No modifier</a:t>
            </a:r>
            <a:r>
              <a:rPr lang="en-IE" sz="2800" dirty="0"/>
              <a:t>: Package-private – any code in the same package can access it.</a:t>
            </a:r>
          </a:p>
        </p:txBody>
      </p:sp>
    </p:spTree>
    <p:extLst>
      <p:ext uri="{BB962C8B-B14F-4D97-AF65-F5344CB8AC3E}">
        <p14:creationId xmlns:p14="http://schemas.microsoft.com/office/powerpoint/2010/main" val="921944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deado desenho animado Images - Free Download on Magnific (formerly  Freepik)">
            <a:extLst>
              <a:ext uri="{FF2B5EF4-FFF2-40B4-BE49-F238E27FC236}">
                <a16:creationId xmlns:a16="http://schemas.microsoft.com/office/drawing/2014/main" id="{DC42A346-A4FD-3A0E-E8C8-DEF4E9CFE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274" y="2272711"/>
            <a:ext cx="3169406" cy="3169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DE081-CFF8-3720-D9AC-623A4571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</a:t>
            </a:r>
            <a:r>
              <a:rPr lang="en-IE" b="1" dirty="0">
                <a:solidFill>
                  <a:srgbClr val="FF0000"/>
                </a:solidFill>
              </a:rPr>
              <a:t>Data</a:t>
            </a:r>
            <a:r>
              <a:rPr lang="en-IE" dirty="0"/>
              <a:t> Should Be Encapsulated?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96A31-6107-061B-6C34-3A76211D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152792" cy="4023360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Short answer: Everything!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Java defaults to keeping </a:t>
            </a:r>
            <a:r>
              <a:rPr lang="en-IE" sz="3200" b="1" u="sng" dirty="0"/>
              <a:t>all</a:t>
            </a:r>
            <a:r>
              <a:rPr lang="en-IE" sz="3200" dirty="0"/>
              <a:t> attributes encapsulated</a:t>
            </a:r>
          </a:p>
          <a:p>
            <a:pPr lvl="2"/>
            <a:r>
              <a:rPr lang="en-IE" sz="2800" dirty="0"/>
              <a:t>We don’t need a reason to lock attributes up</a:t>
            </a:r>
          </a:p>
          <a:p>
            <a:pPr lvl="2"/>
            <a:r>
              <a:rPr lang="en-IE" sz="2800" dirty="0"/>
              <a:t>We need a reason NOT to lock them up</a:t>
            </a:r>
          </a:p>
        </p:txBody>
      </p:sp>
    </p:spTree>
    <p:extLst>
      <p:ext uri="{BB962C8B-B14F-4D97-AF65-F5344CB8AC3E}">
        <p14:creationId xmlns:p14="http://schemas.microsoft.com/office/powerpoint/2010/main" val="305923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C7DB-3F47-93A1-5925-1E740A07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B33A-023D-40DB-2D38-1254CB12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</a:t>
            </a:r>
            <a:r>
              <a:rPr lang="en-IE" b="1" dirty="0">
                <a:solidFill>
                  <a:srgbClr val="FF0000"/>
                </a:solidFill>
              </a:rPr>
              <a:t>Methods</a:t>
            </a:r>
            <a:r>
              <a:rPr lang="en-IE" dirty="0"/>
              <a:t> Should Be Encapsulated?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2643-FA27-18E3-D654-4F01A648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152792" cy="4023360"/>
          </a:xfrm>
        </p:spPr>
        <p:txBody>
          <a:bodyPr>
            <a:normAutofit lnSpcReduction="10000"/>
          </a:bodyPr>
          <a:lstStyle/>
          <a:p>
            <a:pPr lvl="1"/>
            <a:r>
              <a:rPr lang="en-IE" sz="3200" dirty="0"/>
              <a:t>Short answer: It depends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Default approach for methods is to keep them </a:t>
            </a:r>
            <a:r>
              <a:rPr lang="en-IE" sz="3200" i="1" dirty="0">
                <a:solidFill>
                  <a:srgbClr val="FF0000"/>
                </a:solidFill>
              </a:rPr>
              <a:t>public</a:t>
            </a:r>
          </a:p>
          <a:p>
            <a:pPr lvl="2"/>
            <a:r>
              <a:rPr lang="en-IE" sz="2800" dirty="0"/>
              <a:t>We usually build methods so they can be used everywhere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We make </a:t>
            </a:r>
            <a:r>
              <a:rPr lang="en-IE" sz="3200" b="1" u="sng" dirty="0"/>
              <a:t>helper</a:t>
            </a:r>
            <a:r>
              <a:rPr lang="en-IE" sz="3200" dirty="0"/>
              <a:t> methods (methods designed to be used internally) private</a:t>
            </a:r>
          </a:p>
        </p:txBody>
      </p:sp>
      <p:pic>
        <p:nvPicPr>
          <p:cNvPr id="5" name="Picture 4" descr="Locked Gate Cartoon Stock Illustrations – 196 Locked Gate Cartoon Stock  Illustrations, Vectors &amp; Clipart - Dreamstime">
            <a:extLst>
              <a:ext uri="{FF2B5EF4-FFF2-40B4-BE49-F238E27FC236}">
                <a16:creationId xmlns:a16="http://schemas.microsoft.com/office/drawing/2014/main" id="{5846A85D-3394-77D3-DF3F-408D5D49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072" y="2294064"/>
            <a:ext cx="3126700" cy="312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4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DE9B-AD65-F396-DBA6-6036BC45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Providing Access to Encapsulated Attributes:</a:t>
            </a:r>
            <a:br>
              <a:rPr lang="en-IE" dirty="0"/>
            </a:br>
            <a:r>
              <a:rPr lang="en-IE" dirty="0"/>
              <a:t>Changing (Setting) Private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A776C-762A-4C60-0D3E-DD9A68A22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When an attribute has been encapsulated, you should provide methods to allow calling code to safely access it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If we want to control how/when a value is mutated/set, we </a:t>
            </a:r>
            <a:r>
              <a:rPr lang="en-IE" sz="3200" dirty="0">
                <a:solidFill>
                  <a:srgbClr val="FF0000"/>
                </a:solidFill>
              </a:rPr>
              <a:t>include a setter method</a:t>
            </a:r>
            <a:r>
              <a:rPr lang="en-IE" sz="3200" dirty="0"/>
              <a:t> to do it</a:t>
            </a:r>
          </a:p>
          <a:p>
            <a:pPr lvl="2"/>
            <a:r>
              <a:rPr lang="en-IE" sz="2800" dirty="0"/>
              <a:t>Providing a setter method allows the class to retain control over how and when the attribute is being changed</a:t>
            </a:r>
          </a:p>
        </p:txBody>
      </p:sp>
    </p:spTree>
    <p:extLst>
      <p:ext uri="{BB962C8B-B14F-4D97-AF65-F5344CB8AC3E}">
        <p14:creationId xmlns:p14="http://schemas.microsoft.com/office/powerpoint/2010/main" val="3785907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F47C-D064-C2C9-F149-134258311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Writing Setter (Mutator)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9035-A5C6-3D95-E1D3-ABE84D218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2640002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At its core, a setter method is a very basic save:</a:t>
            </a:r>
          </a:p>
          <a:p>
            <a:pPr lvl="2"/>
            <a:r>
              <a:rPr lang="en-IE" sz="2800" dirty="0"/>
              <a:t>Store the value of the parameter supplied in its corresponding attribute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Syntax:</a:t>
            </a:r>
          </a:p>
          <a:p>
            <a:pPr lvl="2"/>
            <a:r>
              <a:rPr lang="en-IE" sz="2800" dirty="0">
                <a:latin typeface="Consolas" panose="020B0609020204030204" pitchFamily="49" charset="0"/>
              </a:rPr>
              <a:t>public void </a:t>
            </a:r>
            <a:r>
              <a:rPr lang="en-IE" sz="2800" dirty="0" err="1">
                <a:latin typeface="Consolas" panose="020B0609020204030204" pitchFamily="49" charset="0"/>
              </a:rPr>
              <a:t>setAttributeName</a:t>
            </a:r>
            <a:r>
              <a:rPr lang="en-IE" sz="2800" dirty="0">
                <a:latin typeface="Consolas" panose="020B0609020204030204" pitchFamily="49" charset="0"/>
              </a:rPr>
              <a:t>(type param){</a:t>
            </a:r>
            <a:br>
              <a:rPr lang="en-IE" sz="2800" dirty="0">
                <a:latin typeface="Consolas" panose="020B0609020204030204" pitchFamily="49" charset="0"/>
              </a:rPr>
            </a:br>
            <a:r>
              <a:rPr lang="en-IE" sz="2800" dirty="0">
                <a:latin typeface="Consolas" panose="020B0609020204030204" pitchFamily="49" charset="0"/>
              </a:rPr>
              <a:t>	</a:t>
            </a:r>
            <a:r>
              <a:rPr lang="en-IE" sz="2800" dirty="0" err="1">
                <a:latin typeface="Consolas" panose="020B0609020204030204" pitchFamily="49" charset="0"/>
              </a:rPr>
              <a:t>this.attributeName</a:t>
            </a:r>
            <a:r>
              <a:rPr lang="en-IE" sz="2800" dirty="0">
                <a:latin typeface="Consolas" panose="020B0609020204030204" pitchFamily="49" charset="0"/>
              </a:rPr>
              <a:t> = param</a:t>
            </a:r>
            <a:br>
              <a:rPr lang="en-IE" sz="2800" dirty="0">
                <a:latin typeface="Consolas" panose="020B0609020204030204" pitchFamily="49" charset="0"/>
              </a:rPr>
            </a:br>
            <a:r>
              <a:rPr lang="en-IE" sz="2800" dirty="0">
                <a:latin typeface="Consolas" panose="020B0609020204030204" pitchFamily="49" charset="0"/>
              </a:rPr>
              <a:t>}</a:t>
            </a:r>
          </a:p>
          <a:p>
            <a:pPr lvl="2"/>
            <a:endParaRPr lang="en-IE" sz="2800" dirty="0">
              <a:latin typeface="Consolas" panose="020B0609020204030204" pitchFamily="49" charset="0"/>
            </a:endParaRPr>
          </a:p>
          <a:p>
            <a:pPr lvl="1"/>
            <a:r>
              <a:rPr lang="en-IE" sz="3200" dirty="0"/>
              <a:t>You can also include conditions (if statements) to control if the information is set:</a:t>
            </a:r>
            <a:endParaRPr lang="en-IE" sz="2800" dirty="0"/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1D33B-5C9B-F1C9-E948-8254FE795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307" y="4485737"/>
            <a:ext cx="5577386" cy="199529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AE7DC4-B1C9-1EAF-4127-29074B20E9E9}"/>
              </a:ext>
            </a:extLst>
          </p:cNvPr>
          <p:cNvSpPr/>
          <p:nvPr/>
        </p:nvSpPr>
        <p:spPr>
          <a:xfrm>
            <a:off x="6573329" y="6004000"/>
            <a:ext cx="4750280" cy="5673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dirty="0"/>
              <a:t>Commented version on </a:t>
            </a:r>
            <a:r>
              <a:rPr lang="en-IE" sz="1600" dirty="0" err="1"/>
              <a:t>moodle</a:t>
            </a:r>
            <a:r>
              <a:rPr lang="en-IE" sz="1600" dirty="0"/>
              <a:t>:</a:t>
            </a:r>
          </a:p>
          <a:p>
            <a:pPr algn="ctr"/>
            <a:r>
              <a:rPr lang="en-IE" sz="1600" dirty="0"/>
              <a:t>constructors_and_encapsulation/entities/House.java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BA25CA-43D5-8281-A868-40DD401B2170}"/>
              </a:ext>
            </a:extLst>
          </p:cNvPr>
          <p:cNvGrpSpPr/>
          <p:nvPr/>
        </p:nvGrpSpPr>
        <p:grpSpPr>
          <a:xfrm>
            <a:off x="5233358" y="2466519"/>
            <a:ext cx="5354130" cy="646331"/>
            <a:chOff x="5233358" y="2466519"/>
            <a:chExt cx="5354130" cy="64633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3DC2CA8-D478-FEE4-12DA-A2F4124E4553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5233358" y="2789685"/>
              <a:ext cx="2824580" cy="2583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BAA53-CB4E-89D9-0D66-39E6739C9873}"/>
                </a:ext>
              </a:extLst>
            </p:cNvPr>
            <p:cNvSpPr txBox="1"/>
            <p:nvPr/>
          </p:nvSpPr>
          <p:spPr>
            <a:xfrm>
              <a:off x="8057938" y="2466519"/>
              <a:ext cx="25295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u="sng" dirty="0"/>
                <a:t>Always</a:t>
              </a:r>
              <a:r>
                <a:rPr lang="en-IE" dirty="0"/>
                <a:t> named after the variable it’s setting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45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DE9B-AD65-F396-DBA6-6036BC45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Reinstating Access to Private Attributes:</a:t>
            </a:r>
            <a:br>
              <a:rPr lang="en-IE" dirty="0"/>
            </a:br>
            <a:r>
              <a:rPr lang="en-IE" dirty="0"/>
              <a:t>Accessing (Getting) Private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A776C-762A-4C60-0D3E-DD9A68A22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IE" sz="3200" dirty="0"/>
              <a:t>When we “block” access to attributes, we may </a:t>
            </a:r>
            <a:r>
              <a:rPr lang="en-IE" sz="3200" dirty="0">
                <a:solidFill>
                  <a:srgbClr val="FF0000"/>
                </a:solidFill>
              </a:rPr>
              <a:t>need a method to access/get</a:t>
            </a:r>
            <a:r>
              <a:rPr lang="en-IE" sz="3200" dirty="0"/>
              <a:t> the attribute’s value</a:t>
            </a:r>
          </a:p>
          <a:p>
            <a:pPr lvl="2"/>
            <a:r>
              <a:rPr lang="en-IE" sz="2800" dirty="0"/>
              <a:t>Including this method gives the class control over how &amp; when the value is released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We should only include it where we WANT to allow access to the value!</a:t>
            </a:r>
          </a:p>
          <a:p>
            <a:pPr lvl="2"/>
            <a:r>
              <a:rPr lang="en-IE" sz="2800" dirty="0"/>
              <a:t>Where that value shouldn’t be available elsewhere, don’t provide a way to get it.</a:t>
            </a:r>
          </a:p>
        </p:txBody>
      </p:sp>
    </p:spTree>
    <p:extLst>
      <p:ext uri="{BB962C8B-B14F-4D97-AF65-F5344CB8AC3E}">
        <p14:creationId xmlns:p14="http://schemas.microsoft.com/office/powerpoint/2010/main" val="3963560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680F-422F-7A36-9137-7EC83077F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Writing Getter (Accessor)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D64DF-DD4C-E950-BE51-4A6605771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At its core, a getter method is a very basic return:</a:t>
            </a:r>
          </a:p>
          <a:p>
            <a:pPr lvl="2"/>
            <a:r>
              <a:rPr lang="en-IE" sz="2800" dirty="0"/>
              <a:t>Return the value of the attribute being retrieved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Syntax:</a:t>
            </a:r>
          </a:p>
          <a:p>
            <a:pPr lvl="2"/>
            <a:r>
              <a:rPr lang="en-IE" sz="2800" dirty="0">
                <a:latin typeface="Consolas" panose="020B0609020204030204" pitchFamily="49" charset="0"/>
              </a:rPr>
              <a:t>public type </a:t>
            </a:r>
            <a:r>
              <a:rPr lang="en-IE" sz="2800" dirty="0" err="1">
                <a:latin typeface="Consolas" panose="020B0609020204030204" pitchFamily="49" charset="0"/>
              </a:rPr>
              <a:t>getAttributeName</a:t>
            </a:r>
            <a:r>
              <a:rPr lang="en-IE" sz="2800" dirty="0">
                <a:latin typeface="Consolas" panose="020B0609020204030204" pitchFamily="49" charset="0"/>
              </a:rPr>
              <a:t>():</a:t>
            </a:r>
            <a:br>
              <a:rPr lang="en-IE" sz="2800" dirty="0">
                <a:latin typeface="Consolas" panose="020B0609020204030204" pitchFamily="49" charset="0"/>
              </a:rPr>
            </a:br>
            <a:r>
              <a:rPr lang="en-IE" sz="2800" dirty="0">
                <a:latin typeface="Consolas" panose="020B0609020204030204" pitchFamily="49" charset="0"/>
              </a:rPr>
              <a:t>	return </a:t>
            </a:r>
            <a:r>
              <a:rPr lang="en-IE" sz="2800" dirty="0" err="1">
                <a:latin typeface="Consolas" panose="020B0609020204030204" pitchFamily="49" charset="0"/>
              </a:rPr>
              <a:t>this.attributeName</a:t>
            </a:r>
            <a:endParaRPr lang="en-IE" sz="2800" dirty="0">
              <a:latin typeface="Consolas" panose="020B0609020204030204" pitchFamily="49" charset="0"/>
            </a:endParaRPr>
          </a:p>
          <a:p>
            <a:pPr lvl="2"/>
            <a:endParaRPr lang="en-IE" sz="2800" dirty="0">
              <a:latin typeface="Consolas" panose="020B0609020204030204" pitchFamily="49" charset="0"/>
            </a:endParaRPr>
          </a:p>
          <a:p>
            <a:pPr lvl="2"/>
            <a:endParaRPr lang="en-IE" sz="2800" dirty="0">
              <a:latin typeface="Consolas" panose="020B0609020204030204" pitchFamily="49" charset="0"/>
            </a:endParaRPr>
          </a:p>
          <a:p>
            <a:pPr lvl="1"/>
            <a:r>
              <a:rPr lang="en-IE" sz="3200" dirty="0"/>
              <a:t>You can also include conditions (if statements) to control how the information is released, for example:</a:t>
            </a:r>
          </a:p>
          <a:p>
            <a:pPr lvl="2"/>
            <a:r>
              <a:rPr lang="en-IE" sz="2800" dirty="0"/>
              <a:t>Require credentials to be provided and don’t return a value if the credential check fails</a:t>
            </a:r>
          </a:p>
          <a:p>
            <a:pPr lvl="2"/>
            <a:r>
              <a:rPr lang="en-IE" sz="2800" dirty="0"/>
              <a:t>Only return the information if it is within a specific range</a:t>
            </a:r>
          </a:p>
          <a:p>
            <a:pPr lvl="2"/>
            <a:r>
              <a:rPr lang="en-IE" sz="2800" dirty="0"/>
              <a:t>Only return the information if some setting in the object’s data is in use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37F449-55A2-9EB3-9527-7BD48F0D6A03}"/>
              </a:ext>
            </a:extLst>
          </p:cNvPr>
          <p:cNvGrpSpPr/>
          <p:nvPr/>
        </p:nvGrpSpPr>
        <p:grpSpPr>
          <a:xfrm>
            <a:off x="5216106" y="1885595"/>
            <a:ext cx="5345402" cy="1042014"/>
            <a:chOff x="5242086" y="2277875"/>
            <a:chExt cx="5345402" cy="10420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8767003-AFF5-EC96-DCF3-59993A749A25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5242086" y="2601041"/>
              <a:ext cx="2815852" cy="7188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B2C112-6412-C49E-8D88-64021F080351}"/>
                </a:ext>
              </a:extLst>
            </p:cNvPr>
            <p:cNvSpPr txBox="1"/>
            <p:nvPr/>
          </p:nvSpPr>
          <p:spPr>
            <a:xfrm>
              <a:off x="8057938" y="2277875"/>
              <a:ext cx="25295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u="sng" dirty="0"/>
                <a:t>Always</a:t>
              </a:r>
              <a:r>
                <a:rPr lang="en-IE" dirty="0"/>
                <a:t> named after the variable it’s getting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D3EFE8-E2E0-B0FF-D5F1-044705DA1904}"/>
              </a:ext>
            </a:extLst>
          </p:cNvPr>
          <p:cNvSpPr/>
          <p:nvPr/>
        </p:nvSpPr>
        <p:spPr>
          <a:xfrm>
            <a:off x="6573329" y="6004000"/>
            <a:ext cx="4750280" cy="5673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dirty="0"/>
              <a:t>Commented version on </a:t>
            </a:r>
            <a:r>
              <a:rPr lang="en-IE" sz="1600" dirty="0" err="1"/>
              <a:t>moodle</a:t>
            </a:r>
            <a:r>
              <a:rPr lang="en-IE" sz="1600" dirty="0"/>
              <a:t>:</a:t>
            </a:r>
          </a:p>
          <a:p>
            <a:pPr algn="ctr"/>
            <a:r>
              <a:rPr lang="en-IE" sz="1600" dirty="0"/>
              <a:t>constructors_and_encapsulation/entities/House.java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015F26-9F59-E00E-C45C-62E11F6F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105" y="2828721"/>
            <a:ext cx="3426794" cy="108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082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10471</TotalTime>
  <Words>922</Words>
  <Application>Microsoft Office PowerPoint</Application>
  <PresentationFormat>Widescreen</PresentationFormat>
  <Paragraphs>106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Calibri</vt:lpstr>
      <vt:lpstr>Calibri Light</vt:lpstr>
      <vt:lpstr>Consolas</vt:lpstr>
      <vt:lpstr>Retrospect</vt:lpstr>
      <vt:lpstr>Controlling Classes</vt:lpstr>
      <vt:lpstr>Customising Object Creation: Defining a Constructor</vt:lpstr>
      <vt:lpstr>The Rules of Constructors</vt:lpstr>
      <vt:lpstr>The Purpose of the Constructor</vt:lpstr>
      <vt:lpstr>Building a Person Using Our Constructor</vt:lpstr>
      <vt:lpstr>A Note on Accessibility</vt:lpstr>
      <vt:lpstr>Encapsulation: Protecting Information &amp; Controlling Access</vt:lpstr>
      <vt:lpstr>What Data Should Be Encapsulated?</vt:lpstr>
      <vt:lpstr>What Methods Should Be Encapsulated?</vt:lpstr>
      <vt:lpstr>Providing Access to Encapsulated Attributes: Changing (Setting) Private Data</vt:lpstr>
      <vt:lpstr>Writing Setter (Mutator) Methods</vt:lpstr>
      <vt:lpstr>Reinstating Access to Private Attributes: Accessing (Getting) Private Data</vt:lpstr>
      <vt:lpstr>Writing Getter (Accessor)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Classes</dc:title>
  <dc:creator>Michelle Graham</dc:creator>
  <cp:lastModifiedBy>Michelle Graham</cp:lastModifiedBy>
  <cp:revision>31</cp:revision>
  <dcterms:created xsi:type="dcterms:W3CDTF">2023-10-04T00:43:28Z</dcterms:created>
  <dcterms:modified xsi:type="dcterms:W3CDTF">2026-10-01T21:55:46Z</dcterms:modified>
</cp:coreProperties>
</file>