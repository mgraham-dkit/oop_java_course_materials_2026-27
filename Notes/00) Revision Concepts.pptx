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2.xml" ContentType="application/vnd.openxmlformats-officedocument.presentationml.tags+xml"/>
  <Override PartName="/ppt/notesSlides/notesSlide18.xml" ContentType="application/vnd.openxmlformats-officedocument.presentationml.notesSlide+xml"/>
  <Override PartName="/ppt/tags/tag3.xml" ContentType="application/vnd.openxmlformats-officedocument.presentationml.tags+xml"/>
  <Override PartName="/ppt/notesSlides/notesSlide19.xml" ContentType="application/vnd.openxmlformats-officedocument.presentationml.notesSlide+xml"/>
  <Override PartName="/ppt/tags/tag4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62" r:id="rId2"/>
    <p:sldId id="411" r:id="rId3"/>
    <p:sldId id="412" r:id="rId4"/>
    <p:sldId id="414" r:id="rId5"/>
    <p:sldId id="415" r:id="rId6"/>
    <p:sldId id="408" r:id="rId7"/>
    <p:sldId id="264" r:id="rId8"/>
    <p:sldId id="285" r:id="rId9"/>
    <p:sldId id="293" r:id="rId10"/>
    <p:sldId id="305" r:id="rId11"/>
    <p:sldId id="306" r:id="rId12"/>
    <p:sldId id="309" r:id="rId13"/>
    <p:sldId id="311" r:id="rId14"/>
    <p:sldId id="385" r:id="rId15"/>
    <p:sldId id="405" r:id="rId16"/>
    <p:sldId id="406" r:id="rId17"/>
    <p:sldId id="312" r:id="rId18"/>
    <p:sldId id="402" r:id="rId19"/>
    <p:sldId id="410" r:id="rId20"/>
    <p:sldId id="403" r:id="rId21"/>
    <p:sldId id="313" r:id="rId22"/>
    <p:sldId id="355" r:id="rId23"/>
    <p:sldId id="356" r:id="rId24"/>
    <p:sldId id="357" r:id="rId25"/>
    <p:sldId id="358" r:id="rId26"/>
    <p:sldId id="359" r:id="rId27"/>
    <p:sldId id="360" r:id="rId28"/>
    <p:sldId id="368" r:id="rId29"/>
    <p:sldId id="369" r:id="rId30"/>
    <p:sldId id="375" r:id="rId31"/>
    <p:sldId id="404" r:id="rId32"/>
  </p:sldIdLst>
  <p:sldSz cx="9144000" cy="6858000" type="screen4x3"/>
  <p:notesSz cx="6805613" cy="9944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AB54DC0-5C48-461C-B28B-3ED67168A8A9}">
          <p14:sldIdLst>
            <p14:sldId id="262"/>
            <p14:sldId id="411"/>
            <p14:sldId id="412"/>
            <p14:sldId id="414"/>
            <p14:sldId id="415"/>
            <p14:sldId id="408"/>
            <p14:sldId id="264"/>
            <p14:sldId id="285"/>
            <p14:sldId id="293"/>
            <p14:sldId id="305"/>
            <p14:sldId id="306"/>
            <p14:sldId id="309"/>
            <p14:sldId id="311"/>
            <p14:sldId id="385"/>
            <p14:sldId id="405"/>
            <p14:sldId id="406"/>
            <p14:sldId id="312"/>
            <p14:sldId id="402"/>
            <p14:sldId id="410"/>
            <p14:sldId id="403"/>
            <p14:sldId id="313"/>
          </p14:sldIdLst>
        </p14:section>
        <p14:section name="The Scanner" id="{15D4315D-D642-4AC0-8378-82B7D97E99DD}">
          <p14:sldIdLst>
            <p14:sldId id="355"/>
            <p14:sldId id="356"/>
            <p14:sldId id="357"/>
            <p14:sldId id="358"/>
            <p14:sldId id="359"/>
            <p14:sldId id="360"/>
            <p14:sldId id="368"/>
            <p14:sldId id="369"/>
            <p14:sldId id="375"/>
            <p14:sldId id="40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203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4939" y="0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1C1E4F-91DB-4A93-B829-59509B25E634}" type="datetimeFigureOut">
              <a:rPr lang="en-IE" smtClean="0"/>
              <a:t>16/09/2026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5169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939" y="9445169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D9410B-2FBB-43CB-88D9-228443F3F13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732480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5AD1FA-5F81-4D69-9A32-67905A7299F8}" type="datetimeFigureOut">
              <a:rPr lang="en-IE" smtClean="0"/>
              <a:t>16/09/2026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6125"/>
            <a:ext cx="4972050" cy="3729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23448"/>
            <a:ext cx="5444490" cy="447484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5169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5169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853EFE-FBA4-4D69-8E21-C99F738F13B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4084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90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40BF5B3-32D9-46E0-8F3B-2ADDDEEECAA8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8023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1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679D01C-919E-49F9-86B8-D7EB7D02D2F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4987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126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47879D5-44F8-4345-853E-9E3FEC9371D9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9556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08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2083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E56EB12-EAA4-4412-B921-BAC32F3163F1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5406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3312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FCC4011-BD39-487E-954D-552A9D036AA2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28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4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341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F4EC28C-7350-4E82-8689-D07E81B6B9FE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5504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72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372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DCFA39D-1B1F-4903-BB2D-7EBFD683830F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7469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92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3926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7ECC0A7-15D3-44DB-8597-636A1EB2AA10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0230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9498215-4693-4DE2-884D-8C859BC48197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885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31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211A344-04FE-44A4-BA7D-474F4F7BCBC7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5183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02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402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D0590B3-E5B2-464D-96F2-67A8FFB7BBE7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8011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13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4131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38228B1-9818-4B9F-A44E-9D512D70B432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0413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21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474FE8B-8446-41E4-8E00-F35E7A9CC0E1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5950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31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31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16C1642-6783-4A9C-919D-CD56EF4F25CC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3696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42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421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FCCA243-61E9-45D3-A58E-4A74989469FF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3692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52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523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940E5D6-6217-463E-ABBA-6C57B9A3FD86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8584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62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626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417897A-3004-474D-9820-9DB43D1E3967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4046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72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728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C42FD80-6B86-4AD7-B473-BE877CD1304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3772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54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054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3E7817D-72E9-4A6B-AB42-4F97C7857E8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6768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64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0650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E4BB53A-BF34-423B-BECD-F25A99FB2550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7242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126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D2D1FF9-97DA-405E-B064-267BEB3EEDAA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3023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C71AF-173C-4A54-BC13-D7899C1F7A88}" type="datetime1">
              <a:rPr lang="en-IE" smtClean="0"/>
              <a:t>16/09/2026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EFEE-A431-42C2-AA32-9A7EFE65A57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42095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5EF3D-837D-45CA-AFB9-4553C7C51703}" type="datetime1">
              <a:rPr lang="en-IE" smtClean="0"/>
              <a:t>16/09/2026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EFEE-A431-42C2-AA32-9A7EFE65A57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71724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1403F-3B99-499D-A2B7-8D8EFA369D2D}" type="datetime1">
              <a:rPr lang="en-IE" smtClean="0"/>
              <a:t>16/09/2026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EFEE-A431-42C2-AA32-9A7EFE65A57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94245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58D7C-8C80-4EF0-8BFB-592FB1CCD3A6}" type="datetime1">
              <a:rPr lang="en-IE" smtClean="0"/>
              <a:t>16/09/2026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EFEE-A431-42C2-AA32-9A7EFE65A57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7447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3D70F-B592-4698-AB7D-4279919D22C3}" type="datetime1">
              <a:rPr lang="en-IE" smtClean="0"/>
              <a:t>16/09/2026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EFEE-A431-42C2-AA32-9A7EFE65A57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6524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30013-638F-4F46-8D86-1E29B6B34E68}" type="datetime1">
              <a:rPr lang="en-IE" smtClean="0"/>
              <a:t>16/09/2026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EFEE-A431-42C2-AA32-9A7EFE65A57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58177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834B1-9C42-4B22-A241-B05863ADA218}" type="datetime1">
              <a:rPr lang="en-IE" smtClean="0"/>
              <a:t>16/09/2026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EFEE-A431-42C2-AA32-9A7EFE65A57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56561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56DDE-E11A-4254-A997-D80B366BA8B4}" type="datetime1">
              <a:rPr lang="en-IE" smtClean="0"/>
              <a:t>16/09/2026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EFEE-A431-42C2-AA32-9A7EFE65A57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67022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6302B-3EBA-424E-B9CB-83EA76AF6E72}" type="datetime1">
              <a:rPr lang="en-IE" smtClean="0"/>
              <a:t>16/09/2026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EFEE-A431-42C2-AA32-9A7EFE65A57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04147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068BA-A42C-434C-AFD0-F5BD8160EBC8}" type="datetime1">
              <a:rPr lang="en-IE" smtClean="0"/>
              <a:t>16/09/2026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EFEE-A431-42C2-AA32-9A7EFE65A57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17387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7BA1-F453-4BE9-8A51-31583C327669}" type="datetime1">
              <a:rPr lang="en-IE" smtClean="0"/>
              <a:t>16/09/2026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EFEE-A431-42C2-AA32-9A7EFE65A57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68730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DFC6C8-07BC-4E0B-8647-072A7DF3980F}" type="datetime1">
              <a:rPr lang="en-IE" smtClean="0"/>
              <a:t>16/09/2026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8EFEE-A431-42C2-AA32-9A7EFE65A57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96623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ga-IE" dirty="0"/>
              <a:t>OOP</a:t>
            </a:r>
            <a:endParaRPr lang="en-US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Java is an </a:t>
            </a:r>
            <a:r>
              <a:rPr lang="en-US" i="1"/>
              <a:t>object-oriented programming (OOP)</a:t>
            </a:r>
            <a:r>
              <a:rPr lang="en-US"/>
              <a:t> language</a:t>
            </a:r>
          </a:p>
          <a:p>
            <a:pPr lvl="1" eaLnBrk="1" hangingPunct="1"/>
            <a:r>
              <a:rPr lang="en-US"/>
              <a:t>Programming methodology that views a program as consisting of </a:t>
            </a:r>
            <a:r>
              <a:rPr lang="en-US" i="1"/>
              <a:t>objects </a:t>
            </a:r>
            <a:r>
              <a:rPr lang="en-US"/>
              <a:t>that interact with one another by means of actions (called </a:t>
            </a:r>
            <a:r>
              <a:rPr lang="en-US" i="1"/>
              <a:t>methods</a:t>
            </a:r>
            <a:r>
              <a:rPr lang="en-US"/>
              <a:t>)</a:t>
            </a:r>
          </a:p>
          <a:p>
            <a:pPr lvl="1" eaLnBrk="1" hangingPunct="1"/>
            <a:r>
              <a:rPr lang="en-US"/>
              <a:t>Objects of the same kind are said to have the same </a:t>
            </a:r>
            <a:r>
              <a:rPr lang="en-US" i="1"/>
              <a:t>type</a:t>
            </a:r>
            <a:r>
              <a:rPr lang="en-US"/>
              <a:t> or be in the same </a:t>
            </a:r>
            <a:r>
              <a:rPr lang="en-US" i="1"/>
              <a:t>class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EFEE-A431-42C2-AA32-9A7EFE65A575}" type="slidenum">
              <a:rPr lang="en-IE" smtClean="0"/>
              <a:t>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81900784"/>
      </p:ext>
    </p:extLst>
  </p:cSld>
  <p:clrMapOvr>
    <a:masterClrMapping/>
  </p:clrMapOvr>
  <p:transition spd="med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Java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E" b="1" dirty="0"/>
              <a:t>Classes</a:t>
            </a:r>
          </a:p>
          <a:p>
            <a:pPr lvl="1"/>
            <a:r>
              <a:rPr lang="en-IE" dirty="0"/>
              <a:t>Random, Scanner, Math</a:t>
            </a:r>
          </a:p>
          <a:p>
            <a:r>
              <a:rPr lang="en-IE" b="1" dirty="0"/>
              <a:t>Objects</a:t>
            </a:r>
          </a:p>
          <a:p>
            <a:pPr lvl="1"/>
            <a:r>
              <a:rPr lang="en-IE" dirty="0"/>
              <a:t>Random </a:t>
            </a:r>
            <a:r>
              <a:rPr lang="en-IE" dirty="0" err="1"/>
              <a:t>rg</a:t>
            </a:r>
            <a:r>
              <a:rPr lang="en-IE" dirty="0"/>
              <a:t> = new Random();</a:t>
            </a:r>
          </a:p>
          <a:p>
            <a:pPr lvl="1"/>
            <a:r>
              <a:rPr lang="en-IE" dirty="0"/>
              <a:t>Scanner </a:t>
            </a:r>
            <a:r>
              <a:rPr lang="en-IE" dirty="0" err="1"/>
              <a:t>sc</a:t>
            </a:r>
            <a:r>
              <a:rPr lang="en-IE" dirty="0"/>
              <a:t> = new Scanner("System.in");</a:t>
            </a:r>
          </a:p>
          <a:p>
            <a:pPr lvl="1"/>
            <a:r>
              <a:rPr lang="en-IE" dirty="0"/>
              <a:t>Objects of a particular type are created by calling the constructor of the class using the new keyword.</a:t>
            </a:r>
          </a:p>
          <a:p>
            <a:pPr lvl="1"/>
            <a:r>
              <a:rPr lang="en-IE" dirty="0"/>
              <a:t>The name of the constructor is the same as the name of the class.</a:t>
            </a:r>
          </a:p>
          <a:p>
            <a:pPr lvl="1"/>
            <a:r>
              <a:rPr lang="en-IE" dirty="0"/>
              <a:t>What happens if you try Math m = new Math();?</a:t>
            </a:r>
          </a:p>
          <a:p>
            <a:r>
              <a:rPr lang="en-IE" b="1" dirty="0"/>
              <a:t>Methods</a:t>
            </a:r>
          </a:p>
          <a:p>
            <a:pPr lvl="1"/>
            <a:r>
              <a:rPr lang="en-IE" dirty="0"/>
              <a:t>Scanner</a:t>
            </a:r>
          </a:p>
          <a:p>
            <a:pPr lvl="2"/>
            <a:r>
              <a:rPr lang="en-IE" dirty="0" err="1"/>
              <a:t>hasNext</a:t>
            </a:r>
            <a:r>
              <a:rPr lang="en-IE" dirty="0"/>
              <a:t>(), </a:t>
            </a:r>
            <a:r>
              <a:rPr lang="en-IE" dirty="0" err="1"/>
              <a:t>nextDouble</a:t>
            </a:r>
            <a:r>
              <a:rPr lang="en-IE" dirty="0"/>
              <a:t>()</a:t>
            </a:r>
          </a:p>
          <a:p>
            <a:pPr lvl="1"/>
            <a:r>
              <a:rPr lang="en-IE" dirty="0"/>
              <a:t>Random</a:t>
            </a:r>
          </a:p>
          <a:p>
            <a:pPr lvl="2"/>
            <a:r>
              <a:rPr lang="en-IE" dirty="0" err="1"/>
              <a:t>nextInt</a:t>
            </a:r>
            <a:r>
              <a:rPr lang="en-IE" dirty="0"/>
              <a:t>(4)</a:t>
            </a:r>
          </a:p>
          <a:p>
            <a:pPr lvl="1"/>
            <a:r>
              <a:rPr lang="en-IE" dirty="0"/>
              <a:t>Math</a:t>
            </a:r>
          </a:p>
          <a:p>
            <a:pPr lvl="2"/>
            <a:r>
              <a:rPr lang="en-IE" dirty="0"/>
              <a:t>max(), min()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EFEE-A431-42C2-AA32-9A7EFE65A575}" type="slidenum">
              <a:rPr lang="en-IE" smtClean="0"/>
              <a:t>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837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Calling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Instance Methods – belong to the object and are called using an object reference</a:t>
            </a:r>
          </a:p>
          <a:p>
            <a:pPr lvl="1"/>
            <a:r>
              <a:rPr lang="en-IE" dirty="0"/>
              <a:t>sc.hasNext();</a:t>
            </a:r>
          </a:p>
          <a:p>
            <a:pPr lvl="2"/>
            <a:r>
              <a:rPr lang="en-IE" dirty="0"/>
              <a:t>Returns true if this (</a:t>
            </a:r>
            <a:r>
              <a:rPr lang="en-IE" dirty="0" err="1"/>
              <a:t>sc</a:t>
            </a:r>
            <a:r>
              <a:rPr lang="en-IE" dirty="0"/>
              <a:t>) scanner has another token in its input. </a:t>
            </a:r>
          </a:p>
          <a:p>
            <a:pPr lvl="1"/>
            <a:r>
              <a:rPr lang="en-IE" dirty="0"/>
              <a:t>Scanner sc1 = new Scanner("System.in");</a:t>
            </a:r>
          </a:p>
          <a:p>
            <a:pPr lvl="1"/>
            <a:r>
              <a:rPr lang="en-IE" dirty="0"/>
              <a:t>Scanner sc2 = new Scanner(new File("data.txt"));</a:t>
            </a:r>
          </a:p>
          <a:p>
            <a:pPr lvl="1"/>
            <a:r>
              <a:rPr lang="en-IE" dirty="0"/>
              <a:t>String s1 = sc1.nextLine();</a:t>
            </a:r>
          </a:p>
          <a:p>
            <a:pPr lvl="1"/>
            <a:r>
              <a:rPr lang="en-IE" dirty="0"/>
              <a:t>String s2 = sc2.nextLine();</a:t>
            </a:r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EFEE-A431-42C2-AA32-9A7EFE65A575}" type="slidenum">
              <a:rPr lang="en-IE" smtClean="0"/>
              <a:t>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23128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Calling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E" dirty="0"/>
              <a:t>Static Methods – belong to the class and are called using a class reference</a:t>
            </a:r>
          </a:p>
          <a:p>
            <a:pPr lvl="1"/>
            <a:r>
              <a:rPr lang="en-IE" dirty="0" err="1"/>
              <a:t>Math.max</a:t>
            </a:r>
            <a:r>
              <a:rPr lang="en-IE" dirty="0"/>
              <a:t>(4,6);</a:t>
            </a:r>
          </a:p>
          <a:p>
            <a:r>
              <a:rPr lang="en-IE" dirty="0"/>
              <a:t>Give 2 examples of instance methods and 2 examples of static methods from the String class.</a:t>
            </a:r>
          </a:p>
          <a:p>
            <a:r>
              <a:rPr lang="en-IE" dirty="0"/>
              <a:t>Give 2 examples of instance methods from the </a:t>
            </a:r>
            <a:r>
              <a:rPr lang="en-IE" dirty="0" err="1"/>
              <a:t>StringBuilder</a:t>
            </a:r>
            <a:r>
              <a:rPr lang="en-IE" dirty="0"/>
              <a:t> class, are there any static methods in this class? </a:t>
            </a:r>
          </a:p>
          <a:p>
            <a:r>
              <a:rPr lang="en-IE" dirty="0"/>
              <a:t>What type of methods did we write last year?</a:t>
            </a:r>
          </a:p>
          <a:p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EFEE-A431-42C2-AA32-9A7EFE65A575}" type="slidenum">
              <a:rPr lang="en-IE" smtClean="0"/>
              <a:t>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20726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Packages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E" dirty="0"/>
              <a:t>A package in Java is used to group related classes, similar to  </a:t>
            </a:r>
            <a:r>
              <a:rPr lang="en-IE" b="1" dirty="0"/>
              <a:t>a folder in a file directory</a:t>
            </a:r>
            <a:r>
              <a:rPr lang="en-IE" dirty="0"/>
              <a:t>. </a:t>
            </a:r>
          </a:p>
          <a:p>
            <a:r>
              <a:rPr lang="en-IE" dirty="0"/>
              <a:t>Packages are used to avoid name conflicts, and to write better maintainable code. </a:t>
            </a:r>
          </a:p>
          <a:p>
            <a:r>
              <a:rPr lang="en-IE" dirty="0"/>
              <a:t>Packages are divided into two categories:</a:t>
            </a:r>
          </a:p>
          <a:p>
            <a:pPr lvl="1"/>
            <a:r>
              <a:rPr lang="en-IE" dirty="0"/>
              <a:t>Built-in Packages (packages from the Java API)</a:t>
            </a:r>
          </a:p>
          <a:p>
            <a:pPr lvl="1"/>
            <a:r>
              <a:rPr lang="en-IE" dirty="0"/>
              <a:t>User-defined Packages (create your own packages)</a:t>
            </a:r>
          </a:p>
          <a:p>
            <a:r>
              <a:rPr lang="en-IE" dirty="0"/>
              <a:t>What is output from the following statements?</a:t>
            </a:r>
          </a:p>
          <a:p>
            <a:pPr lvl="2"/>
            <a:r>
              <a:rPr lang="en-IE" dirty="0" err="1"/>
              <a:t>System.out.println</a:t>
            </a:r>
            <a:r>
              <a:rPr lang="en-IE" dirty="0"/>
              <a:t>(</a:t>
            </a:r>
            <a:r>
              <a:rPr lang="en-IE" dirty="0" err="1"/>
              <a:t>StringBuilder.class</a:t>
            </a:r>
            <a:r>
              <a:rPr lang="en-IE" dirty="0"/>
              <a:t>);</a:t>
            </a:r>
          </a:p>
          <a:p>
            <a:pPr lvl="2"/>
            <a:r>
              <a:rPr lang="en-IE" dirty="0"/>
              <a:t>        </a:t>
            </a:r>
            <a:r>
              <a:rPr lang="en-IE" dirty="0" err="1"/>
              <a:t>System.out.println</a:t>
            </a:r>
            <a:r>
              <a:rPr lang="en-IE" dirty="0"/>
              <a:t>(</a:t>
            </a:r>
            <a:r>
              <a:rPr lang="en-IE" dirty="0" err="1"/>
              <a:t>String.class</a:t>
            </a:r>
            <a:r>
              <a:rPr lang="en-IE" dirty="0"/>
              <a:t>);</a:t>
            </a:r>
          </a:p>
          <a:p>
            <a:pPr lvl="2"/>
            <a:r>
              <a:rPr lang="en-IE" dirty="0"/>
              <a:t>        </a:t>
            </a:r>
            <a:r>
              <a:rPr lang="en-IE" dirty="0" err="1"/>
              <a:t>System.out.println</a:t>
            </a:r>
            <a:r>
              <a:rPr lang="en-IE" dirty="0"/>
              <a:t>(</a:t>
            </a:r>
            <a:r>
              <a:rPr lang="en-IE" dirty="0" err="1"/>
              <a:t>Random.class</a:t>
            </a:r>
            <a:r>
              <a:rPr lang="en-IE" dirty="0"/>
              <a:t>);</a:t>
            </a:r>
          </a:p>
          <a:p>
            <a:pPr lvl="1"/>
            <a:r>
              <a:rPr lang="en-IE" dirty="0"/>
              <a:t>Why do we need an import statement for the Random class, import </a:t>
            </a:r>
            <a:r>
              <a:rPr lang="en-IE" dirty="0" err="1"/>
              <a:t>java.util.Random</a:t>
            </a:r>
            <a:r>
              <a:rPr lang="en-IE" dirty="0"/>
              <a:t>; and not for the String or </a:t>
            </a:r>
            <a:r>
              <a:rPr lang="en-IE" dirty="0" err="1"/>
              <a:t>StringBuilder</a:t>
            </a:r>
            <a:r>
              <a:rPr lang="en-IE" dirty="0"/>
              <a:t> classes?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EFEE-A431-42C2-AA32-9A7EFE65A575}" type="slidenum">
              <a:rPr lang="en-IE" smtClean="0"/>
              <a:t>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91240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E" dirty="0"/>
              <a:t>package tutorial.pkg1;</a:t>
            </a:r>
          </a:p>
          <a:p>
            <a:r>
              <a:rPr lang="en-IE" dirty="0"/>
              <a:t>//notice package name</a:t>
            </a:r>
          </a:p>
          <a:p>
            <a:r>
              <a:rPr lang="en-IE" dirty="0"/>
              <a:t>public class Tutorial1 {</a:t>
            </a:r>
          </a:p>
          <a:p>
            <a:endParaRPr lang="en-IE" dirty="0"/>
          </a:p>
          <a:p>
            <a:r>
              <a:rPr lang="en-IE" dirty="0"/>
              <a:t>public static void main(String[] </a:t>
            </a:r>
            <a:r>
              <a:rPr lang="en-IE" dirty="0" err="1"/>
              <a:t>args</a:t>
            </a:r>
            <a:r>
              <a:rPr lang="en-IE" dirty="0"/>
              <a:t>) {</a:t>
            </a:r>
          </a:p>
          <a:p>
            <a:r>
              <a:rPr lang="en-IE" dirty="0"/>
              <a:t>         String s1 = "Hello";</a:t>
            </a:r>
          </a:p>
          <a:p>
            <a:r>
              <a:rPr lang="en-IE" dirty="0"/>
              <a:t>        String s2 = s1.substring(2);</a:t>
            </a:r>
          </a:p>
          <a:p>
            <a:r>
              <a:rPr lang="en-IE" dirty="0"/>
              <a:t>        </a:t>
            </a:r>
          </a:p>
          <a:p>
            <a:r>
              <a:rPr lang="en-IE" dirty="0"/>
              <a:t>        </a:t>
            </a:r>
            <a:r>
              <a:rPr lang="en-IE" dirty="0" err="1"/>
              <a:t>int</a:t>
            </a:r>
            <a:r>
              <a:rPr lang="en-IE" dirty="0"/>
              <a:t> x = 4;</a:t>
            </a:r>
          </a:p>
          <a:p>
            <a:r>
              <a:rPr lang="en-IE" dirty="0"/>
              <a:t>    }</a:t>
            </a:r>
          </a:p>
          <a:p>
            <a:r>
              <a:rPr lang="en-IE" dirty="0"/>
              <a:t>    </a:t>
            </a:r>
          </a:p>
          <a:p>
            <a:r>
              <a:rPr lang="en-IE" dirty="0"/>
              <a:t>}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EFEE-A431-42C2-AA32-9A7EFE65A575}" type="slidenum">
              <a:rPr lang="en-IE" smtClean="0"/>
              <a:t>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48629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Java Programs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800" dirty="0"/>
              <a:t>A Java </a:t>
            </a:r>
            <a:r>
              <a:rPr lang="en-US" sz="2800" i="1" dirty="0"/>
              <a:t>application program </a:t>
            </a:r>
            <a:r>
              <a:rPr lang="en-US" sz="2800" dirty="0"/>
              <a:t>is a class with a method named </a:t>
            </a:r>
            <a:r>
              <a:rPr lang="en-US" sz="2800" b="1" dirty="0">
                <a:solidFill>
                  <a:srgbClr val="034CA1"/>
                </a:solidFill>
                <a:latin typeface="Courier New" pitchFamily="49" charset="0"/>
              </a:rPr>
              <a:t>main</a:t>
            </a:r>
            <a:endParaRPr lang="en-US" sz="2800" dirty="0">
              <a:solidFill>
                <a:srgbClr val="034CA1"/>
              </a:solidFill>
              <a:latin typeface="Courier New" pitchFamily="49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All Java application programs start with the </a:t>
            </a:r>
            <a:r>
              <a:rPr lang="en-US" sz="2400" b="1" dirty="0">
                <a:solidFill>
                  <a:srgbClr val="034CA1"/>
                </a:solidFill>
                <a:latin typeface="Courier New" pitchFamily="49" charset="0"/>
              </a:rPr>
              <a:t>main</a:t>
            </a:r>
            <a:r>
              <a:rPr lang="en-US" sz="2400" dirty="0"/>
              <a:t> method</a:t>
            </a:r>
            <a:endParaRPr lang="ga-IE" sz="2400" dirty="0"/>
          </a:p>
          <a:p>
            <a:r>
              <a:rPr lang="en-US" sz="2800" dirty="0"/>
              <a:t>Java programs are divided into smaller parts called </a:t>
            </a:r>
            <a:r>
              <a:rPr lang="en-US" sz="2800" i="1" dirty="0"/>
              <a:t>classes</a:t>
            </a:r>
          </a:p>
          <a:p>
            <a:pPr lvl="1"/>
            <a:r>
              <a:rPr lang="en-US" sz="2400" dirty="0"/>
              <a:t>Each class definition is normally in a separate file</a:t>
            </a:r>
            <a:r>
              <a:rPr lang="ga-IE" sz="2400" dirty="0"/>
              <a:t> </a:t>
            </a:r>
            <a:r>
              <a:rPr lang="en-US" sz="2400" b="1" dirty="0"/>
              <a:t>whose name is the same as the class name followed by </a:t>
            </a:r>
            <a:r>
              <a:rPr lang="en-US" sz="2400" b="1" dirty="0">
                <a:solidFill>
                  <a:srgbClr val="034CA1"/>
                </a:solidFill>
                <a:latin typeface="Courier New" pitchFamily="49" charset="0"/>
              </a:rPr>
              <a:t>.java</a:t>
            </a:r>
          </a:p>
          <a:p>
            <a:pPr lvl="0"/>
            <a:r>
              <a:rPr lang="en-IE" sz="2800" dirty="0"/>
              <a:t>Exercise</a:t>
            </a:r>
          </a:p>
          <a:p>
            <a:pPr lvl="1"/>
            <a:r>
              <a:rPr lang="en-IE" sz="2400" dirty="0"/>
              <a:t>Write a program that asks the user to enter the first name of a friend, a favourite activity, a favourite colour and an emotion, and then prints the following line (replacing the items in italics):</a:t>
            </a:r>
          </a:p>
          <a:p>
            <a:pPr marL="857250" lvl="2" indent="0">
              <a:buNone/>
            </a:pPr>
            <a:r>
              <a:rPr lang="en-IE" sz="2000" dirty="0"/>
              <a:t>I had a dream that </a:t>
            </a:r>
            <a:r>
              <a:rPr lang="en-IE" sz="2000" i="1" dirty="0"/>
              <a:t>name</a:t>
            </a:r>
            <a:r>
              <a:rPr lang="en-IE" sz="2000" dirty="0"/>
              <a:t> went </a:t>
            </a:r>
            <a:r>
              <a:rPr lang="en-IE" sz="2000" i="1" dirty="0"/>
              <a:t>activity</a:t>
            </a:r>
            <a:r>
              <a:rPr lang="en-IE" sz="2000" dirty="0"/>
              <a:t> and turned </a:t>
            </a:r>
            <a:r>
              <a:rPr lang="en-IE" sz="2000" i="1" dirty="0"/>
              <a:t>colour</a:t>
            </a:r>
            <a:r>
              <a:rPr lang="en-IE" sz="2000" dirty="0"/>
              <a:t> from </a:t>
            </a:r>
            <a:r>
              <a:rPr lang="en-IE" sz="2000" i="1" dirty="0"/>
              <a:t>emotion</a:t>
            </a:r>
            <a:r>
              <a:rPr lang="en-IE" sz="2000" dirty="0"/>
              <a:t>! </a:t>
            </a:r>
          </a:p>
          <a:p>
            <a:pPr lvl="1"/>
            <a:endParaRPr lang="en-US" sz="2400" b="1" dirty="0">
              <a:solidFill>
                <a:srgbClr val="034CA1"/>
              </a:solidFill>
              <a:latin typeface="Courier New" pitchFamily="49" charset="0"/>
            </a:endParaRPr>
          </a:p>
          <a:p>
            <a:pPr marL="457200" lvl="1" indent="0">
              <a:buNone/>
            </a:pPr>
            <a:endParaRPr lang="en-US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EFEE-A431-42C2-AA32-9A7EFE65A575}" type="slidenum">
              <a:rPr lang="en-IE" smtClean="0"/>
              <a:t>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89948640"/>
      </p:ext>
    </p:extLst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Primitive Types</a:t>
            </a:r>
          </a:p>
        </p:txBody>
      </p:sp>
      <p:pic>
        <p:nvPicPr>
          <p:cNvPr id="35843" name="Picture 11" descr="savitch_c01d02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143000"/>
            <a:ext cx="7772400" cy="513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EFEE-A431-42C2-AA32-9A7EFE65A575}" type="slidenum">
              <a:rPr lang="en-IE" smtClean="0"/>
              <a:t>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71835473"/>
      </p:ext>
    </p:extLst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Assignment Compatibility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ga-IE" sz="2400" dirty="0"/>
              <a:t>A </a:t>
            </a:r>
            <a:r>
              <a:rPr lang="en-US" sz="2400" dirty="0"/>
              <a:t>value of any type in the following list can be assigned to a variable of any type that appears to the right of it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sz="2000" b="1" dirty="0" err="1">
                <a:solidFill>
                  <a:srgbClr val="034CA1"/>
                </a:solidFill>
                <a:latin typeface="Courier New" pitchFamily="49" charset="0"/>
              </a:rPr>
              <a:t>byte</a:t>
            </a:r>
            <a:r>
              <a:rPr lang="en-US" sz="2000" b="1" dirty="0" err="1">
                <a:solidFill>
                  <a:srgbClr val="034CA1"/>
                </a:solidFill>
                <a:latin typeface="Courier New" pitchFamily="49" charset="0"/>
                <a:sym typeface="Symbol" pitchFamily="18" charset="2"/>
              </a:rPr>
              <a:t></a:t>
            </a:r>
            <a:r>
              <a:rPr lang="en-US" sz="2000" b="1" dirty="0" err="1">
                <a:solidFill>
                  <a:srgbClr val="034CA1"/>
                </a:solidFill>
                <a:latin typeface="Courier New" pitchFamily="49" charset="0"/>
              </a:rPr>
              <a:t>short</a:t>
            </a:r>
            <a:r>
              <a:rPr lang="en-US" sz="2000" b="1" dirty="0" err="1">
                <a:solidFill>
                  <a:srgbClr val="034CA1"/>
                </a:solidFill>
                <a:latin typeface="Courier New" pitchFamily="49" charset="0"/>
                <a:sym typeface="Symbol" pitchFamily="18" charset="2"/>
              </a:rPr>
              <a:t></a:t>
            </a:r>
            <a:r>
              <a:rPr lang="en-US" sz="2000" b="1" dirty="0" err="1">
                <a:solidFill>
                  <a:srgbClr val="034CA1"/>
                </a:solidFill>
                <a:latin typeface="Courier New" pitchFamily="49" charset="0"/>
              </a:rPr>
              <a:t>int</a:t>
            </a:r>
            <a:r>
              <a:rPr lang="en-US" sz="2000" b="1" dirty="0" err="1">
                <a:solidFill>
                  <a:srgbClr val="034CA1"/>
                </a:solidFill>
                <a:latin typeface="Courier New" pitchFamily="49" charset="0"/>
                <a:sym typeface="Symbol" pitchFamily="18" charset="2"/>
              </a:rPr>
              <a:t></a:t>
            </a:r>
            <a:r>
              <a:rPr lang="en-US" sz="2000" b="1" dirty="0" err="1">
                <a:solidFill>
                  <a:srgbClr val="034CA1"/>
                </a:solidFill>
                <a:latin typeface="Courier New" pitchFamily="49" charset="0"/>
              </a:rPr>
              <a:t>long</a:t>
            </a:r>
            <a:r>
              <a:rPr lang="en-US" sz="2000" b="1" dirty="0" err="1">
                <a:solidFill>
                  <a:srgbClr val="034CA1"/>
                </a:solidFill>
                <a:latin typeface="Courier New" pitchFamily="49" charset="0"/>
                <a:sym typeface="Symbol" pitchFamily="18" charset="2"/>
              </a:rPr>
              <a:t></a:t>
            </a:r>
            <a:r>
              <a:rPr lang="en-US" sz="2000" b="1" dirty="0" err="1">
                <a:solidFill>
                  <a:srgbClr val="034CA1"/>
                </a:solidFill>
                <a:latin typeface="Courier New" pitchFamily="49" charset="0"/>
              </a:rPr>
              <a:t>float</a:t>
            </a:r>
            <a:r>
              <a:rPr lang="en-US" sz="2000" b="1" dirty="0" err="1">
                <a:solidFill>
                  <a:srgbClr val="034CA1"/>
                </a:solidFill>
                <a:latin typeface="Courier New" pitchFamily="49" charset="0"/>
                <a:sym typeface="Symbol" pitchFamily="18" charset="2"/>
              </a:rPr>
              <a:t></a:t>
            </a:r>
            <a:r>
              <a:rPr lang="en-US" sz="2000" b="1" dirty="0" err="1">
                <a:solidFill>
                  <a:srgbClr val="034CA1"/>
                </a:solidFill>
                <a:latin typeface="Courier New" pitchFamily="49" charset="0"/>
              </a:rPr>
              <a:t>double</a:t>
            </a:r>
            <a:endParaRPr lang="en-US" sz="2000" b="1" dirty="0">
              <a:solidFill>
                <a:srgbClr val="034CA1"/>
              </a:solidFill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400" dirty="0"/>
              <a:t>An explicit </a:t>
            </a:r>
            <a:r>
              <a:rPr lang="en-US" sz="2400" i="1" dirty="0"/>
              <a:t>type cast </a:t>
            </a:r>
            <a:r>
              <a:rPr lang="en-US" sz="2400" dirty="0"/>
              <a:t>is required to assign a value of one type to a variable whose type appears to the left of it on the above list (e.g., </a:t>
            </a:r>
            <a:r>
              <a:rPr lang="en-US" sz="2400" b="1" dirty="0">
                <a:solidFill>
                  <a:srgbClr val="034CA1"/>
                </a:solidFill>
                <a:latin typeface="Courier New" pitchFamily="49" charset="0"/>
              </a:rPr>
              <a:t>double</a:t>
            </a:r>
            <a:r>
              <a:rPr lang="en-US" sz="2400" dirty="0"/>
              <a:t> to </a:t>
            </a:r>
            <a:r>
              <a:rPr lang="en-US" sz="2400" b="1" dirty="0" err="1">
                <a:solidFill>
                  <a:srgbClr val="034CA1"/>
                </a:solidFill>
                <a:latin typeface="Courier New" pitchFamily="49" charset="0"/>
              </a:rPr>
              <a:t>int</a:t>
            </a:r>
            <a:r>
              <a:rPr lang="en-US" sz="2400" dirty="0">
                <a:latin typeface="Courier New" pitchFamily="49" charset="0"/>
              </a:rPr>
              <a:t>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nn-NO" sz="2400" dirty="0">
                <a:latin typeface="Courier New" pitchFamily="49" charset="0"/>
              </a:rPr>
              <a:t>	  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nn-NO" sz="2400" dirty="0">
                <a:latin typeface="Courier New" pitchFamily="49" charset="0"/>
              </a:rPr>
              <a:t>	   int i = 3;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nn-NO" sz="2400" dirty="0">
                <a:latin typeface="Courier New" pitchFamily="49" charset="0"/>
              </a:rPr>
              <a:t>        double d = 4;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nn-NO" sz="2400" dirty="0">
                <a:latin typeface="Courier New" pitchFamily="49" charset="0"/>
              </a:rPr>
              <a:t>       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nn-NO" sz="2400" dirty="0">
                <a:latin typeface="Courier New" pitchFamily="49" charset="0"/>
              </a:rPr>
              <a:t>        d= i;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nn-NO" sz="2400" dirty="0">
                <a:latin typeface="Courier New" pitchFamily="49" charset="0"/>
              </a:rPr>
              <a:t>        i = (int)d;</a:t>
            </a:r>
            <a:endParaRPr lang="en-US" sz="2400" dirty="0">
              <a:latin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EFEE-A431-42C2-AA32-9A7EFE65A575}" type="slidenum">
              <a:rPr lang="en-IE" smtClean="0"/>
              <a:t>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5889983"/>
      </p:ext>
    </p:extLst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Type Casting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/>
              <a:t>A </a:t>
            </a:r>
            <a:r>
              <a:rPr lang="en-US" sz="2400" i="1"/>
              <a:t>type cast</a:t>
            </a:r>
            <a:r>
              <a:rPr lang="en-US" sz="2400"/>
              <a:t> takes a value of one type and produces a value of another type with an "equivalent" value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/>
              <a:t>If </a:t>
            </a:r>
            <a:r>
              <a:rPr lang="en-US" sz="2000" b="1">
                <a:solidFill>
                  <a:srgbClr val="034CA1"/>
                </a:solidFill>
                <a:latin typeface="Courier New" pitchFamily="49" charset="0"/>
              </a:rPr>
              <a:t>n</a:t>
            </a:r>
            <a:r>
              <a:rPr lang="en-US" sz="2000"/>
              <a:t> and </a:t>
            </a:r>
            <a:r>
              <a:rPr lang="en-US" sz="2000" b="1">
                <a:solidFill>
                  <a:srgbClr val="034CA1"/>
                </a:solidFill>
                <a:latin typeface="Courier New" pitchFamily="49" charset="0"/>
              </a:rPr>
              <a:t>m</a:t>
            </a:r>
            <a:r>
              <a:rPr lang="en-US" sz="2000"/>
              <a:t> are integers to be divided, and the fractional portion of the result must be preserved, at least one of the two must be type cast to a floating-point type </a:t>
            </a:r>
            <a:r>
              <a:rPr lang="en-US" sz="2000" b="1"/>
              <a:t>before</a:t>
            </a:r>
            <a:r>
              <a:rPr lang="en-US" sz="2000"/>
              <a:t> the division operation is performed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sz="2000" b="1">
                <a:solidFill>
                  <a:srgbClr val="034CA1"/>
                </a:solidFill>
                <a:latin typeface="Courier New" pitchFamily="49" charset="0"/>
              </a:rPr>
              <a:t>double ans = n / (double)m;</a:t>
            </a:r>
            <a:endParaRPr lang="en-US" sz="2000">
              <a:solidFill>
                <a:srgbClr val="034CA1"/>
              </a:solidFill>
              <a:latin typeface="Courier New" pitchFamily="49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sz="2000"/>
              <a:t>Note that the desired type is placed inside parentheses immediately in front of the variable to be cast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/>
              <a:t>Note also that the type and value of the variable to be cast does not change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EFEE-A431-42C2-AA32-9A7EFE65A575}" type="slidenum">
              <a:rPr lang="en-IE" smtClean="0"/>
              <a:t>10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73956370"/>
      </p:ext>
    </p:extLst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Type Casting</a:t>
            </a:r>
          </a:p>
        </p:txBody>
      </p:sp>
      <p:sp>
        <p:nvSpPr>
          <p:cNvPr id="57347" name="AutoShape 3"/>
          <p:cNvSpPr>
            <a:spLocks noGrp="1" noChangeAspec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/>
              <a:t>When type casting from a floating-point to an integer type, the number is truncated, not rounded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b="1">
                <a:solidFill>
                  <a:srgbClr val="034CA1"/>
                </a:solidFill>
                <a:latin typeface="Courier New" pitchFamily="49" charset="0"/>
              </a:rPr>
              <a:t>(int)2.9</a:t>
            </a:r>
            <a:r>
              <a:rPr lang="en-US" sz="2000"/>
              <a:t> evaluates to </a:t>
            </a:r>
            <a:r>
              <a:rPr lang="en-US" sz="2000" b="1">
                <a:solidFill>
                  <a:srgbClr val="034CA1"/>
                </a:solidFill>
                <a:latin typeface="Courier New" pitchFamily="49" charset="0"/>
              </a:rPr>
              <a:t>2</a:t>
            </a:r>
            <a:r>
              <a:rPr lang="en-US" sz="2000"/>
              <a:t>, not </a:t>
            </a:r>
            <a:r>
              <a:rPr lang="en-US" sz="2000" b="1">
                <a:solidFill>
                  <a:srgbClr val="034CA1"/>
                </a:solidFill>
                <a:latin typeface="Courier New" pitchFamily="49" charset="0"/>
              </a:rPr>
              <a:t>3</a:t>
            </a:r>
            <a:endParaRPr lang="en-US" sz="2000">
              <a:solidFill>
                <a:srgbClr val="034CA1"/>
              </a:solidFill>
              <a:latin typeface="Courier New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/>
              <a:t>When the value of an integer type is assigned to a variable of a floating-point type, Java performs an automatic type cast called a </a:t>
            </a:r>
            <a:r>
              <a:rPr lang="en-US" sz="2400" i="1"/>
              <a:t>type coercion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sz="2000" b="1">
                <a:solidFill>
                  <a:srgbClr val="034CA1"/>
                </a:solidFill>
                <a:latin typeface="Courier New" pitchFamily="49" charset="0"/>
              </a:rPr>
              <a:t>double d = 5;</a:t>
            </a:r>
            <a:endParaRPr lang="en-US" sz="2000">
              <a:solidFill>
                <a:srgbClr val="034CA1"/>
              </a:solidFill>
              <a:latin typeface="Courier New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/>
              <a:t>In contrast, it is illegal to place a </a:t>
            </a:r>
            <a:r>
              <a:rPr lang="en-US" sz="2400" b="1">
                <a:solidFill>
                  <a:srgbClr val="034CA1"/>
                </a:solidFill>
                <a:latin typeface="Courier New" pitchFamily="49" charset="0"/>
              </a:rPr>
              <a:t>double</a:t>
            </a:r>
            <a:r>
              <a:rPr lang="en-US" sz="2400"/>
              <a:t> value into an </a:t>
            </a:r>
            <a:r>
              <a:rPr lang="en-US" sz="2400" b="1">
                <a:solidFill>
                  <a:srgbClr val="034CA1"/>
                </a:solidFill>
                <a:latin typeface="Courier New" pitchFamily="49" charset="0"/>
              </a:rPr>
              <a:t>int</a:t>
            </a:r>
            <a:r>
              <a:rPr lang="en-US" sz="2400"/>
              <a:t> variable without an explicit type cast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sz="2000" b="1">
                <a:solidFill>
                  <a:srgbClr val="CC3300"/>
                </a:solidFill>
                <a:latin typeface="Courier New" pitchFamily="49" charset="0"/>
              </a:rPr>
              <a:t>int i = 5.5; // Illegal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sz="2000" b="1">
                <a:solidFill>
                  <a:srgbClr val="034CA1"/>
                </a:solidFill>
                <a:latin typeface="Courier New" pitchFamily="49" charset="0"/>
              </a:rPr>
              <a:t>int i = (int)5.5 // Correct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EFEE-A431-42C2-AA32-9A7EFE65A575}" type="slidenum">
              <a:rPr lang="en-IE" smtClean="0"/>
              <a:t>11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81988667"/>
      </p:ext>
    </p:extLst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The Class </a:t>
            </a:r>
            <a:r>
              <a:rPr lang="en-US" b="1">
                <a:latin typeface="Courier New" pitchFamily="49" charset="0"/>
              </a:rPr>
              <a:t>String</a:t>
            </a:r>
            <a:endParaRPr lang="en-US">
              <a:latin typeface="Courier New" pitchFamily="49" charset="0"/>
            </a:endParaRP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There is no primitive type for strings in Java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The class </a:t>
            </a:r>
            <a:r>
              <a:rPr lang="en-US" sz="2400" b="1" dirty="0">
                <a:solidFill>
                  <a:srgbClr val="034CA1"/>
                </a:solidFill>
                <a:latin typeface="Courier New" pitchFamily="49" charset="0"/>
              </a:rPr>
              <a:t>String</a:t>
            </a:r>
            <a:r>
              <a:rPr lang="en-US" sz="2400" dirty="0"/>
              <a:t> is a predefined class in Java that is used to store and process strings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Objects of type </a:t>
            </a:r>
            <a:r>
              <a:rPr lang="en-US" sz="2400" b="1" dirty="0">
                <a:solidFill>
                  <a:srgbClr val="034CA1"/>
                </a:solidFill>
                <a:latin typeface="Courier New" pitchFamily="49" charset="0"/>
              </a:rPr>
              <a:t>String</a:t>
            </a:r>
            <a:r>
              <a:rPr lang="en-US" sz="2400" dirty="0"/>
              <a:t> are made up of characters that are written within double quotes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Any quoted string is a constant of type </a:t>
            </a:r>
            <a:r>
              <a:rPr lang="en-US" sz="2000" b="1" dirty="0">
                <a:solidFill>
                  <a:srgbClr val="034CA1"/>
                </a:solidFill>
                <a:latin typeface="Courier New" pitchFamily="49" charset="0"/>
              </a:rPr>
              <a:t>String</a:t>
            </a:r>
            <a:endParaRPr lang="en-US" sz="2000" dirty="0">
              <a:solidFill>
                <a:srgbClr val="034CA1"/>
              </a:solidFill>
              <a:latin typeface="Courier New" pitchFamily="49" charset="0"/>
            </a:endParaRP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sz="2000" b="1" dirty="0">
                <a:solidFill>
                  <a:srgbClr val="034CA1"/>
                </a:solidFill>
                <a:latin typeface="Courier New" pitchFamily="49" charset="0"/>
              </a:rPr>
              <a:t>"Live long and prosper."</a:t>
            </a:r>
            <a:endParaRPr lang="en-US" sz="2000" dirty="0">
              <a:solidFill>
                <a:srgbClr val="034CA1"/>
              </a:solidFill>
              <a:latin typeface="Courier New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A variable of type </a:t>
            </a:r>
            <a:r>
              <a:rPr lang="en-US" sz="2400" b="1" dirty="0">
                <a:solidFill>
                  <a:srgbClr val="034CA1"/>
                </a:solidFill>
                <a:latin typeface="Courier New" pitchFamily="49" charset="0"/>
              </a:rPr>
              <a:t>String</a:t>
            </a:r>
            <a:r>
              <a:rPr lang="en-US" sz="2400" dirty="0"/>
              <a:t> can be given the value of a </a:t>
            </a:r>
            <a:r>
              <a:rPr lang="en-US" sz="2400" b="1" dirty="0">
                <a:solidFill>
                  <a:srgbClr val="034CA1"/>
                </a:solidFill>
                <a:latin typeface="Courier New" pitchFamily="49" charset="0"/>
              </a:rPr>
              <a:t>String</a:t>
            </a:r>
            <a:r>
              <a:rPr lang="en-US" sz="2400" dirty="0"/>
              <a:t> object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sz="2000" b="1" dirty="0">
                <a:solidFill>
                  <a:srgbClr val="034CA1"/>
                </a:solidFill>
                <a:latin typeface="Courier New" pitchFamily="49" charset="0"/>
              </a:rPr>
              <a:t>String blessing = "Live long and prosper.";</a:t>
            </a:r>
            <a:endParaRPr lang="en-US" sz="2000" dirty="0">
              <a:solidFill>
                <a:srgbClr val="034CA1"/>
              </a:solidFill>
              <a:latin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EFEE-A431-42C2-AA32-9A7EFE65A575}" type="slidenum">
              <a:rPr lang="en-IE" smtClean="0"/>
              <a:t>12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86814652"/>
      </p:ext>
    </p:extLst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Classes, Objects, and Methods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A </a:t>
            </a:r>
            <a:r>
              <a:rPr lang="en-US" sz="2400" i="1" dirty="0"/>
              <a:t>class</a:t>
            </a:r>
            <a:r>
              <a:rPr lang="en-US" sz="2400" dirty="0"/>
              <a:t> is the name for a type whose values are objects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i="1" dirty="0"/>
              <a:t>Objects</a:t>
            </a:r>
            <a:r>
              <a:rPr lang="en-US" sz="2400" dirty="0"/>
              <a:t> are entities that </a:t>
            </a:r>
            <a:r>
              <a:rPr lang="en-US" sz="2400" b="1" dirty="0"/>
              <a:t>store data and take actions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Objects of the </a:t>
            </a:r>
            <a:r>
              <a:rPr lang="en-US" sz="2000" b="1" dirty="0">
                <a:solidFill>
                  <a:srgbClr val="034CA1"/>
                </a:solidFill>
                <a:latin typeface="Courier New" pitchFamily="49" charset="0"/>
              </a:rPr>
              <a:t>String</a:t>
            </a:r>
            <a:r>
              <a:rPr lang="en-US" sz="2000" dirty="0"/>
              <a:t> class store data consisting of strings of characters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The actions that an object can take are called </a:t>
            </a:r>
            <a:r>
              <a:rPr lang="en-US" sz="2400" i="1" dirty="0"/>
              <a:t>methods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Methods can return a value of a single type and/or perform an action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All objects within a class have the same methods, but each can have different data values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EFEE-A431-42C2-AA32-9A7EFE65A575}" type="slidenum">
              <a:rPr lang="en-IE" smtClean="0"/>
              <a:t>13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04533853"/>
      </p:ext>
    </p:extLst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 dirty="0"/>
              <a:t>Example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754760" cy="4525963"/>
          </a:xfrm>
        </p:spPr>
        <p:txBody>
          <a:bodyPr>
            <a:normAutofit fontScale="3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public static void main(String[] </a:t>
            </a:r>
            <a:r>
              <a:rPr lang="en-IE" dirty="0" err="1"/>
              <a:t>args</a:t>
            </a:r>
            <a:r>
              <a:rPr lang="en-IE" dirty="0"/>
              <a:t>) {</a:t>
            </a:r>
            <a:endParaRPr lang="ga-IE" dirty="0"/>
          </a:p>
          <a:p>
            <a:pPr marL="514350" indent="-514350">
              <a:buFont typeface="+mj-lt"/>
              <a:buAutoNum type="arabicPeriod"/>
            </a:pPr>
            <a:r>
              <a:rPr lang="ga-IE" dirty="0"/>
              <a:t>         </a:t>
            </a:r>
            <a:r>
              <a:rPr lang="en-IE" dirty="0"/>
              <a:t>String s = "Hello";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        </a:t>
            </a:r>
            <a:r>
              <a:rPr lang="en-IE" dirty="0" err="1"/>
              <a:t>System.out.println</a:t>
            </a:r>
            <a:r>
              <a:rPr lang="en-IE" dirty="0"/>
              <a:t>("Enter something");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        Scanner keyboard = new Scanner(System.in);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        String s2 = </a:t>
            </a:r>
            <a:r>
              <a:rPr lang="en-IE" dirty="0" err="1"/>
              <a:t>keyboard.nextLine</a:t>
            </a:r>
            <a:r>
              <a:rPr lang="en-IE" dirty="0"/>
              <a:t>();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        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        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        if (s==s2){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            //</a:t>
            </a:r>
            <a:r>
              <a:rPr lang="en-IE" dirty="0" err="1"/>
              <a:t>sout</a:t>
            </a:r>
            <a:r>
              <a:rPr lang="en-IE" dirty="0"/>
              <a:t> tab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            </a:t>
            </a:r>
            <a:r>
              <a:rPr lang="en-IE" dirty="0" err="1"/>
              <a:t>System.out.println</a:t>
            </a:r>
            <a:r>
              <a:rPr lang="en-IE" dirty="0"/>
              <a:t>("Same");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            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        }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        else{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            </a:t>
            </a:r>
            <a:r>
              <a:rPr lang="en-IE" dirty="0" err="1"/>
              <a:t>System.out.println</a:t>
            </a:r>
            <a:r>
              <a:rPr lang="en-IE" dirty="0"/>
              <a:t>("different");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                    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        }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        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         if (</a:t>
            </a:r>
            <a:r>
              <a:rPr lang="en-IE" dirty="0" err="1"/>
              <a:t>s.equalsIgnoreCase</a:t>
            </a:r>
            <a:r>
              <a:rPr lang="en-IE" dirty="0"/>
              <a:t>(s2)){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            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            </a:t>
            </a:r>
            <a:r>
              <a:rPr lang="en-IE" dirty="0" err="1"/>
              <a:t>System.out.println</a:t>
            </a:r>
            <a:r>
              <a:rPr lang="en-IE" dirty="0"/>
              <a:t>("Same");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            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        }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        else{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            </a:t>
            </a:r>
            <a:r>
              <a:rPr lang="en-IE" dirty="0" err="1"/>
              <a:t>System.out.println</a:t>
            </a:r>
            <a:r>
              <a:rPr lang="en-IE" dirty="0"/>
              <a:t>("different");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                    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        }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    }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36096" y="1772816"/>
            <a:ext cx="302433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ga-IE" dirty="0"/>
              <a:t>Sample Run</a:t>
            </a:r>
          </a:p>
          <a:p>
            <a:endParaRPr lang="ga-IE" dirty="0"/>
          </a:p>
          <a:p>
            <a:r>
              <a:rPr lang="en-IE" sz="1600" dirty="0"/>
              <a:t>Enter something</a:t>
            </a:r>
          </a:p>
          <a:p>
            <a:r>
              <a:rPr lang="en-IE" sz="1600" dirty="0"/>
              <a:t>Hello</a:t>
            </a:r>
          </a:p>
          <a:p>
            <a:r>
              <a:rPr lang="en-IE" sz="1600" dirty="0"/>
              <a:t>different</a:t>
            </a:r>
          </a:p>
          <a:p>
            <a:r>
              <a:rPr lang="en-IE" sz="1600" dirty="0"/>
              <a:t>Same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EFEE-A431-42C2-AA32-9A7EFE65A575}" type="slidenum">
              <a:rPr lang="en-IE" smtClean="0"/>
              <a:t>14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248253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Java Comparison Operators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963" y="1438275"/>
            <a:ext cx="8732837" cy="427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EFEE-A431-42C2-AA32-9A7EFE65A575}" type="slidenum">
              <a:rPr lang="en-IE" smtClean="0"/>
              <a:t>15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48334698"/>
      </p:ext>
    </p:extLst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Pitfall:  Using </a:t>
            </a:r>
            <a:r>
              <a:rPr lang="en-US" b="1">
                <a:latin typeface="Courier New" pitchFamily="49" charset="0"/>
              </a:rPr>
              <a:t>==</a:t>
            </a:r>
            <a:r>
              <a:rPr lang="en-US"/>
              <a:t> with Strings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/>
              <a:t>The equality comparison operator (</a:t>
            </a:r>
            <a:r>
              <a:rPr lang="en-US" sz="2400" b="1">
                <a:solidFill>
                  <a:srgbClr val="034CA1"/>
                </a:solidFill>
                <a:latin typeface="Courier New" pitchFamily="49" charset="0"/>
              </a:rPr>
              <a:t>==</a:t>
            </a:r>
            <a:r>
              <a:rPr lang="en-US" sz="2400"/>
              <a:t>) can correctly test two values of a </a:t>
            </a:r>
            <a:r>
              <a:rPr lang="en-US" sz="2400" i="1"/>
              <a:t>primitive</a:t>
            </a:r>
            <a:r>
              <a:rPr lang="en-US" sz="2400"/>
              <a:t> type</a:t>
            </a:r>
          </a:p>
          <a:p>
            <a:pPr eaLnBrk="1" hangingPunct="1">
              <a:lnSpc>
                <a:spcPct val="90000"/>
              </a:lnSpc>
            </a:pPr>
            <a:r>
              <a:rPr lang="en-US" sz="2400"/>
              <a:t>However, when applied to two </a:t>
            </a:r>
            <a:r>
              <a:rPr lang="en-US" sz="2400" i="1"/>
              <a:t>objects</a:t>
            </a:r>
            <a:r>
              <a:rPr lang="en-US" sz="2400"/>
              <a:t> such as objects of the </a:t>
            </a:r>
            <a:r>
              <a:rPr lang="en-US" sz="2400" b="1">
                <a:solidFill>
                  <a:srgbClr val="034CA1"/>
                </a:solidFill>
                <a:latin typeface="Courier New" pitchFamily="49" charset="0"/>
              </a:rPr>
              <a:t>String</a:t>
            </a:r>
            <a:r>
              <a:rPr lang="en-US" sz="2400"/>
              <a:t> class, </a:t>
            </a:r>
            <a:r>
              <a:rPr lang="en-US" sz="2400" b="1">
                <a:solidFill>
                  <a:srgbClr val="034CA1"/>
                </a:solidFill>
                <a:latin typeface="Courier New" pitchFamily="49" charset="0"/>
              </a:rPr>
              <a:t>==</a:t>
            </a:r>
            <a:r>
              <a:rPr lang="en-US" sz="2400"/>
              <a:t> tests to see if they are stored in the same memory location, not whether or not they have the same value</a:t>
            </a:r>
          </a:p>
          <a:p>
            <a:pPr eaLnBrk="1" hangingPunct="1">
              <a:lnSpc>
                <a:spcPct val="90000"/>
              </a:lnSpc>
            </a:pPr>
            <a:r>
              <a:rPr lang="en-US" sz="2400"/>
              <a:t>In order to test two strings to see if they have equal values, use the method </a:t>
            </a:r>
            <a:r>
              <a:rPr lang="en-US" sz="2400" b="1">
                <a:solidFill>
                  <a:srgbClr val="034CA1"/>
                </a:solidFill>
                <a:latin typeface="Courier New" pitchFamily="49" charset="0"/>
              </a:rPr>
              <a:t>equals</a:t>
            </a:r>
            <a:r>
              <a:rPr lang="en-US" sz="2400"/>
              <a:t>, or </a:t>
            </a:r>
            <a:r>
              <a:rPr lang="en-US" sz="2400" b="1">
                <a:solidFill>
                  <a:srgbClr val="034CA1"/>
                </a:solidFill>
                <a:latin typeface="Courier New" pitchFamily="49" charset="0"/>
              </a:rPr>
              <a:t>equalsIgnoreCase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sz="2000" b="1">
                <a:solidFill>
                  <a:srgbClr val="034CA1"/>
                </a:solidFill>
                <a:latin typeface="Courier New" pitchFamily="49" charset="0"/>
              </a:rPr>
              <a:t>string1.equals(string2)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sz="2000" b="1">
                <a:solidFill>
                  <a:srgbClr val="034CA1"/>
                </a:solidFill>
                <a:latin typeface="Courier New" pitchFamily="49" charset="0"/>
              </a:rPr>
              <a:t>string1.equalsIgnoreCase(string2)</a:t>
            </a:r>
            <a:endParaRPr lang="en-US" sz="2000">
              <a:solidFill>
                <a:srgbClr val="034CA1"/>
              </a:solidFill>
              <a:latin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EFEE-A431-42C2-AA32-9A7EFE65A575}" type="slidenum">
              <a:rPr lang="en-IE" smtClean="0"/>
              <a:t>16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36827355"/>
      </p:ext>
    </p:extLst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/>
              <a:t>Invoking</a:t>
            </a:r>
            <a:r>
              <a:rPr lang="en-US" dirty="0"/>
              <a:t> or </a:t>
            </a:r>
            <a:r>
              <a:rPr lang="en-US" i="1" dirty="0"/>
              <a:t>calling a method</a:t>
            </a:r>
            <a:r>
              <a:rPr lang="en-US" dirty="0"/>
              <a:t>  </a:t>
            </a:r>
            <a:br>
              <a:rPr lang="ga-IE" dirty="0"/>
            </a:br>
            <a:endParaRPr lang="en-US" dirty="0"/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ga-IE" sz="2000" dirty="0"/>
              <a:t>A</a:t>
            </a:r>
            <a:r>
              <a:rPr lang="en-US" sz="2000" dirty="0"/>
              <a:t> method is called into action by writing the name of the calling object, followed by a dot, followed by the method name, followed by parentheses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sz="2000" dirty="0"/>
          </a:p>
          <a:p>
            <a:pPr marL="800100" lvl="2" indent="0">
              <a:buNone/>
            </a:pPr>
            <a:r>
              <a:rPr lang="en-IE" dirty="0"/>
              <a:t>Scanner input = new Scanner(System.in);</a:t>
            </a:r>
          </a:p>
          <a:p>
            <a:pPr marL="800100" lvl="2" indent="0">
              <a:buNone/>
            </a:pPr>
            <a:r>
              <a:rPr lang="en-IE" dirty="0"/>
              <a:t>String s2 = </a:t>
            </a:r>
            <a:r>
              <a:rPr lang="en-IE" dirty="0" err="1"/>
              <a:t>input.nextLine</a:t>
            </a:r>
            <a:r>
              <a:rPr lang="en-IE" dirty="0"/>
              <a:t>();</a:t>
            </a:r>
            <a:endParaRPr lang="ga-IE" dirty="0"/>
          </a:p>
          <a:p>
            <a:pPr eaLnBrk="1" hangingPunct="1">
              <a:lnSpc>
                <a:spcPct val="90000"/>
              </a:lnSpc>
            </a:pPr>
            <a:endParaRPr lang="en-US" sz="2000" dirty="0"/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This is sometimes referred to as </a:t>
            </a:r>
            <a:r>
              <a:rPr lang="en-US" sz="2000" i="1" dirty="0"/>
              <a:t>sending a message to the object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The parentheses contain the information (if any) needed by the method</a:t>
            </a:r>
            <a:r>
              <a:rPr lang="ga-IE" sz="2000" dirty="0"/>
              <a:t> – arguments</a:t>
            </a:r>
            <a:endParaRPr lang="en-IE" sz="2000" dirty="0"/>
          </a:p>
          <a:p>
            <a:pPr lvl="1" eaLnBrk="1" hangingPunct="1">
              <a:lnSpc>
                <a:spcPct val="90000"/>
              </a:lnSpc>
            </a:pPr>
            <a:endParaRPr lang="en-IE" sz="2000" dirty="0"/>
          </a:p>
          <a:p>
            <a:pPr lvl="1" eaLnBrk="1" hangingPunct="1">
              <a:lnSpc>
                <a:spcPct val="90000"/>
              </a:lnSpc>
            </a:pPr>
            <a:endParaRPr lang="en-IE" sz="2000" dirty="0"/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US" sz="2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EFEE-A431-42C2-AA32-9A7EFE65A575}" type="slidenum">
              <a:rPr lang="en-IE" smtClean="0"/>
              <a:t>17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79452495"/>
      </p:ext>
    </p:extLst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/>
              <a:t>Invoking</a:t>
            </a:r>
            <a:r>
              <a:rPr lang="en-US" dirty="0"/>
              <a:t> or </a:t>
            </a:r>
            <a:r>
              <a:rPr lang="en-US" i="1" dirty="0"/>
              <a:t>calling a method</a:t>
            </a:r>
            <a:r>
              <a:rPr lang="en-US" dirty="0"/>
              <a:t>:  </a:t>
            </a:r>
            <a:br>
              <a:rPr lang="ga-IE" dirty="0"/>
            </a:b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E" dirty="0"/>
              <a:t>   </a:t>
            </a:r>
            <a:r>
              <a:rPr lang="ga-IE" dirty="0"/>
              <a:t>A</a:t>
            </a:r>
            <a:r>
              <a:rPr lang="en-US" dirty="0"/>
              <a:t> method is called into action by writing the name of the </a:t>
            </a:r>
            <a:r>
              <a:rPr lang="ga-IE" dirty="0"/>
              <a:t>class containing the method</a:t>
            </a:r>
            <a:r>
              <a:rPr lang="en-US" dirty="0"/>
              <a:t>, followed by a dot, followed by the method name, followed by parentheses</a:t>
            </a:r>
            <a:r>
              <a:rPr lang="ga-IE" dirty="0"/>
              <a:t>....</a:t>
            </a:r>
            <a:endParaRPr lang="en-US" dirty="0"/>
          </a:p>
          <a:p>
            <a:pPr marL="0" indent="0">
              <a:buNone/>
            </a:pPr>
            <a:r>
              <a:rPr lang="en-IE" dirty="0"/>
              <a:t>    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        Scanner input = new Scanner(System.in);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        </a:t>
            </a:r>
            <a:r>
              <a:rPr lang="en-IE" dirty="0" err="1"/>
              <a:t>int</a:t>
            </a:r>
            <a:r>
              <a:rPr lang="en-IE" dirty="0"/>
              <a:t> num1, num2;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        </a:t>
            </a:r>
            <a:r>
              <a:rPr lang="en-IE" dirty="0" err="1"/>
              <a:t>int</a:t>
            </a:r>
            <a:r>
              <a:rPr lang="en-IE" dirty="0"/>
              <a:t> max;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        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        num1 = </a:t>
            </a:r>
            <a:r>
              <a:rPr lang="en-IE" dirty="0" err="1"/>
              <a:t>input.nextInt</a:t>
            </a:r>
            <a:r>
              <a:rPr lang="en-IE" dirty="0"/>
              <a:t>();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        num2 = </a:t>
            </a:r>
            <a:r>
              <a:rPr lang="en-IE" dirty="0" err="1"/>
              <a:t>input.nextInt</a:t>
            </a:r>
            <a:r>
              <a:rPr lang="en-IE" dirty="0"/>
              <a:t>();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        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        max = </a:t>
            </a:r>
            <a:r>
              <a:rPr lang="en-IE" dirty="0" err="1"/>
              <a:t>Math.max</a:t>
            </a:r>
            <a:r>
              <a:rPr lang="en-IE" dirty="0"/>
              <a:t>(num1, num2);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        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        </a:t>
            </a:r>
            <a:r>
              <a:rPr lang="en-IE" dirty="0" err="1"/>
              <a:t>System.out.println</a:t>
            </a:r>
            <a:r>
              <a:rPr lang="en-IE" dirty="0"/>
              <a:t>(max);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EFEE-A431-42C2-AA32-9A7EFE65A575}" type="slidenum">
              <a:rPr lang="en-IE" smtClean="0"/>
              <a:t>18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999837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Invoking</a:t>
            </a:r>
            <a:r>
              <a:rPr lang="en-US" dirty="0"/>
              <a:t> or </a:t>
            </a:r>
            <a:r>
              <a:rPr lang="en-US" i="1" dirty="0"/>
              <a:t>calling a method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ga-IE" dirty="0"/>
              <a:t>A</a:t>
            </a:r>
            <a:r>
              <a:rPr lang="en-US" dirty="0"/>
              <a:t> method is called into action by writing the method name, followed by parentheses</a:t>
            </a:r>
            <a:r>
              <a:rPr lang="ga-IE" dirty="0"/>
              <a:t>....</a:t>
            </a:r>
            <a:endParaRPr lang="en-US" dirty="0"/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r>
              <a:rPr lang="en-IE" dirty="0"/>
              <a:t>public static void main(String[] </a:t>
            </a:r>
            <a:r>
              <a:rPr lang="en-IE" dirty="0" err="1"/>
              <a:t>args</a:t>
            </a:r>
            <a:r>
              <a:rPr lang="en-IE" dirty="0"/>
              <a:t>){</a:t>
            </a:r>
            <a:endParaRPr lang="ga-IE" dirty="0"/>
          </a:p>
          <a:p>
            <a:pPr marL="914400" lvl="1" indent="-514350">
              <a:buFont typeface="+mj-lt"/>
              <a:buAutoNum type="arabicPeriod"/>
            </a:pPr>
            <a:r>
              <a:rPr lang="en-IE" dirty="0"/>
              <a:t>String code = " ";        </a:t>
            </a:r>
            <a:endParaRPr lang="ga-IE" dirty="0"/>
          </a:p>
          <a:p>
            <a:pPr marL="914400" lvl="1" indent="-514350">
              <a:buFont typeface="+mj-lt"/>
              <a:buAutoNum type="arabicPeriod"/>
            </a:pPr>
            <a:r>
              <a:rPr lang="en-IE" dirty="0"/>
              <a:t>String </a:t>
            </a:r>
            <a:r>
              <a:rPr lang="en-IE" dirty="0" err="1"/>
              <a:t>newCode</a:t>
            </a:r>
            <a:r>
              <a:rPr lang="en-IE" dirty="0"/>
              <a:t> = " ";       </a:t>
            </a:r>
            <a:endParaRPr lang="ga-IE" dirty="0"/>
          </a:p>
          <a:p>
            <a:pPr marL="914400" lvl="1" indent="-514350">
              <a:buFont typeface="+mj-lt"/>
              <a:buAutoNum type="arabicPeriod"/>
            </a:pPr>
            <a:r>
              <a:rPr lang="en-IE" dirty="0"/>
              <a:t> code = getValidId1("Enter Code"); 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IE" dirty="0"/>
              <a:t>// code = Sample.getValidId1("Enter Code"); </a:t>
            </a:r>
            <a:endParaRPr lang="ga-IE" dirty="0"/>
          </a:p>
          <a:p>
            <a:pPr marL="914400" lvl="1" indent="-514350">
              <a:buFont typeface="+mj-lt"/>
              <a:buAutoNum type="arabicPeriod"/>
            </a:pPr>
            <a:endParaRPr lang="ga-IE" dirty="0"/>
          </a:p>
          <a:p>
            <a:pPr marL="914400" lvl="1" indent="-514350">
              <a:buFont typeface="+mj-lt"/>
              <a:buAutoNum type="arabicPeriod"/>
            </a:pPr>
            <a:r>
              <a:rPr lang="en-IE" dirty="0"/>
              <a:t>  </a:t>
            </a:r>
            <a:r>
              <a:rPr lang="en-IE" dirty="0" err="1"/>
              <a:t>newCode</a:t>
            </a:r>
            <a:r>
              <a:rPr lang="en-IE" dirty="0"/>
              <a:t> = </a:t>
            </a:r>
            <a:r>
              <a:rPr lang="en-IE" dirty="0" err="1"/>
              <a:t>changeId</a:t>
            </a:r>
            <a:r>
              <a:rPr lang="en-IE" dirty="0"/>
              <a:t>(code);               </a:t>
            </a:r>
            <a:r>
              <a:rPr lang="en-IE" dirty="0" err="1"/>
              <a:t>System.out.println</a:t>
            </a:r>
            <a:r>
              <a:rPr lang="en-IE" dirty="0"/>
              <a:t>(</a:t>
            </a:r>
            <a:r>
              <a:rPr lang="en-IE" dirty="0" err="1"/>
              <a:t>newCode</a:t>
            </a:r>
            <a:r>
              <a:rPr lang="en-IE" dirty="0"/>
              <a:t>);    </a:t>
            </a:r>
            <a:endParaRPr lang="ga-IE" dirty="0"/>
          </a:p>
          <a:p>
            <a:pPr marL="914400" lvl="1" indent="-514350">
              <a:buFont typeface="+mj-lt"/>
              <a:buAutoNum type="arabicPeriod"/>
            </a:pPr>
            <a:r>
              <a:rPr lang="en-IE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EFEE-A431-42C2-AA32-9A7EFE65A575}" type="slidenum">
              <a:rPr lang="en-IE" smtClean="0"/>
              <a:t>19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190608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/>
              <a:t>Invoking</a:t>
            </a:r>
            <a:r>
              <a:rPr lang="en-US" dirty="0"/>
              <a:t> or </a:t>
            </a:r>
            <a:r>
              <a:rPr lang="en-US" i="1" dirty="0"/>
              <a:t>calling a method</a:t>
            </a:r>
            <a:r>
              <a:rPr lang="en-US" dirty="0"/>
              <a:t>:  </a:t>
            </a:r>
            <a:br>
              <a:rPr lang="ga-IE" dirty="0"/>
            </a:b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r>
              <a:rPr lang="en-IE" dirty="0"/>
              <a:t>public static String </a:t>
            </a:r>
            <a:r>
              <a:rPr lang="en-IE" dirty="0" err="1"/>
              <a:t>changeId</a:t>
            </a:r>
            <a:r>
              <a:rPr lang="en-IE" dirty="0"/>
              <a:t>(String id){</a:t>
            </a:r>
          </a:p>
          <a:p>
            <a:pPr marL="0" indent="0">
              <a:buNone/>
            </a:pPr>
            <a:r>
              <a:rPr lang="en-IE" dirty="0"/>
              <a:t>    </a:t>
            </a:r>
            <a:r>
              <a:rPr lang="en-IE" dirty="0" err="1"/>
              <a:t>int</a:t>
            </a:r>
            <a:r>
              <a:rPr lang="en-IE" dirty="0"/>
              <a:t> </a:t>
            </a:r>
            <a:r>
              <a:rPr lang="en-IE" dirty="0" err="1"/>
              <a:t>pos</a:t>
            </a:r>
            <a:r>
              <a:rPr lang="en-IE" dirty="0"/>
              <a:t>;</a:t>
            </a:r>
          </a:p>
          <a:p>
            <a:pPr marL="0" indent="0">
              <a:buNone/>
            </a:pPr>
            <a:r>
              <a:rPr lang="en-IE" dirty="0"/>
              <a:t>    String start;</a:t>
            </a:r>
          </a:p>
          <a:p>
            <a:pPr marL="0" indent="0">
              <a:buNone/>
            </a:pPr>
            <a:r>
              <a:rPr lang="en-IE" dirty="0"/>
              <a:t>    String ends;</a:t>
            </a:r>
          </a:p>
          <a:p>
            <a:pPr marL="0" indent="0">
              <a:buNone/>
            </a:pPr>
            <a:r>
              <a:rPr lang="en-IE" dirty="0"/>
              <a:t>    String </a:t>
            </a:r>
            <a:r>
              <a:rPr lang="en-IE" dirty="0" err="1"/>
              <a:t>newString</a:t>
            </a:r>
            <a:r>
              <a:rPr lang="en-IE" dirty="0"/>
              <a:t>;</a:t>
            </a:r>
          </a:p>
          <a:p>
            <a:pPr marL="0" indent="0">
              <a:buNone/>
            </a:pPr>
            <a:r>
              <a:rPr lang="en-IE" dirty="0"/>
              <a:t>    </a:t>
            </a:r>
            <a:r>
              <a:rPr lang="en-IE" dirty="0" err="1"/>
              <a:t>pos</a:t>
            </a:r>
            <a:r>
              <a:rPr lang="en-IE" dirty="0"/>
              <a:t> = </a:t>
            </a:r>
            <a:r>
              <a:rPr lang="en-IE" dirty="0" err="1"/>
              <a:t>id.indexOf</a:t>
            </a:r>
            <a:r>
              <a:rPr lang="en-IE" dirty="0"/>
              <a:t>("R");</a:t>
            </a:r>
          </a:p>
          <a:p>
            <a:pPr marL="0" indent="0">
              <a:buNone/>
            </a:pPr>
            <a:r>
              <a:rPr lang="en-IE" dirty="0"/>
              <a:t>    start = </a:t>
            </a:r>
            <a:r>
              <a:rPr lang="en-IE" dirty="0" err="1"/>
              <a:t>id.substring</a:t>
            </a:r>
            <a:r>
              <a:rPr lang="en-IE" dirty="0"/>
              <a:t>(0, </a:t>
            </a:r>
            <a:r>
              <a:rPr lang="en-IE" dirty="0" err="1"/>
              <a:t>pos</a:t>
            </a:r>
            <a:r>
              <a:rPr lang="en-IE" dirty="0"/>
              <a:t>);</a:t>
            </a:r>
          </a:p>
          <a:p>
            <a:pPr marL="0" indent="0">
              <a:buNone/>
            </a:pPr>
            <a:r>
              <a:rPr lang="en-IE" dirty="0"/>
              <a:t>    ends = </a:t>
            </a:r>
            <a:r>
              <a:rPr lang="en-IE" dirty="0" err="1"/>
              <a:t>id.substring</a:t>
            </a:r>
            <a:r>
              <a:rPr lang="en-IE" dirty="0"/>
              <a:t>(pos+1);</a:t>
            </a:r>
          </a:p>
          <a:p>
            <a:pPr marL="0" indent="0">
              <a:buNone/>
            </a:pPr>
            <a:r>
              <a:rPr lang="en-IE" dirty="0"/>
              <a:t>    </a:t>
            </a:r>
            <a:r>
              <a:rPr lang="en-IE" dirty="0" err="1"/>
              <a:t>newString</a:t>
            </a:r>
            <a:r>
              <a:rPr lang="en-IE" dirty="0"/>
              <a:t> = start + "</a:t>
            </a:r>
            <a:r>
              <a:rPr lang="en-IE" dirty="0" err="1"/>
              <a:t>rr</a:t>
            </a:r>
            <a:r>
              <a:rPr lang="en-IE" dirty="0"/>
              <a:t>" + ends + </a:t>
            </a:r>
            <a:r>
              <a:rPr lang="en-IE" dirty="0" err="1"/>
              <a:t>getRandomCharacter</a:t>
            </a:r>
            <a:r>
              <a:rPr lang="en-IE" dirty="0"/>
              <a:t>(id);</a:t>
            </a:r>
          </a:p>
          <a:p>
            <a:pPr marL="0" indent="0">
              <a:buNone/>
            </a:pPr>
            <a:r>
              <a:rPr lang="en-IE" dirty="0"/>
              <a:t>    </a:t>
            </a:r>
          </a:p>
          <a:p>
            <a:pPr marL="0" indent="0">
              <a:buNone/>
            </a:pPr>
            <a:r>
              <a:rPr lang="en-IE" dirty="0"/>
              <a:t>    return </a:t>
            </a:r>
            <a:r>
              <a:rPr lang="en-IE" dirty="0" err="1"/>
              <a:t>newString</a:t>
            </a:r>
            <a:r>
              <a:rPr lang="en-IE" dirty="0"/>
              <a:t>;</a:t>
            </a:r>
          </a:p>
          <a:p>
            <a:pPr marL="0" indent="0">
              <a:buNone/>
            </a:pPr>
            <a:r>
              <a:rPr lang="en-IE" dirty="0"/>
              <a:t>}</a:t>
            </a:r>
          </a:p>
          <a:p>
            <a:pPr marL="0" indent="0">
              <a:buNone/>
            </a:pPr>
            <a:r>
              <a:rPr lang="en-IE" dirty="0"/>
              <a:t>This method exists in the Sample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EFEE-A431-42C2-AA32-9A7EFE65A575}" type="slidenum">
              <a:rPr lang="en-IE" smtClean="0"/>
              <a:t>20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081568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String Methods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dirty="0"/>
              <a:t>The </a:t>
            </a:r>
            <a:r>
              <a:rPr lang="en-US" sz="2400" b="1" dirty="0">
                <a:solidFill>
                  <a:srgbClr val="034CA1"/>
                </a:solidFill>
                <a:latin typeface="Courier New" pitchFamily="49" charset="0"/>
              </a:rPr>
              <a:t>String</a:t>
            </a:r>
            <a:r>
              <a:rPr lang="en-US" sz="2400" dirty="0"/>
              <a:t> class contains many useful methods for string-processing applications</a:t>
            </a:r>
          </a:p>
          <a:p>
            <a:pPr lvl="1" eaLnBrk="1" hangingPunct="1">
              <a:lnSpc>
                <a:spcPct val="80000"/>
              </a:lnSpc>
            </a:pPr>
            <a:r>
              <a:rPr lang="ga-IE" sz="2000" dirty="0"/>
              <a:t>Some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034CA1"/>
                </a:solidFill>
                <a:latin typeface="Courier New" pitchFamily="49" charset="0"/>
              </a:rPr>
              <a:t>String</a:t>
            </a:r>
            <a:r>
              <a:rPr lang="en-US" sz="2000" dirty="0"/>
              <a:t> method</a:t>
            </a:r>
            <a:r>
              <a:rPr lang="ga-IE" sz="2000" dirty="0"/>
              <a:t>s are</a:t>
            </a:r>
            <a:r>
              <a:rPr lang="en-US" sz="2000" dirty="0"/>
              <a:t> called by writing a </a:t>
            </a:r>
            <a:r>
              <a:rPr lang="en-US" sz="2000" b="1" dirty="0">
                <a:solidFill>
                  <a:srgbClr val="034CA1"/>
                </a:solidFill>
                <a:latin typeface="Courier New" pitchFamily="49" charset="0"/>
              </a:rPr>
              <a:t>String</a:t>
            </a:r>
            <a:r>
              <a:rPr lang="en-US" sz="2000" dirty="0"/>
              <a:t> object, a dot, the name of the method, and a pair of parentheses to enclose any arguments</a:t>
            </a:r>
            <a:endParaRPr lang="ga-IE" sz="2000" dirty="0"/>
          </a:p>
          <a:p>
            <a:pPr lvl="1">
              <a:lnSpc>
                <a:spcPct val="80000"/>
              </a:lnSpc>
            </a:pPr>
            <a:r>
              <a:rPr lang="ga-IE" sz="2000" dirty="0"/>
              <a:t>Some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034CA1"/>
                </a:solidFill>
                <a:latin typeface="Courier New" pitchFamily="49" charset="0"/>
              </a:rPr>
              <a:t>String</a:t>
            </a:r>
            <a:r>
              <a:rPr lang="en-US" sz="2000" dirty="0"/>
              <a:t> method</a:t>
            </a:r>
            <a:r>
              <a:rPr lang="ga-IE" sz="2000" dirty="0"/>
              <a:t>s are</a:t>
            </a:r>
            <a:r>
              <a:rPr lang="en-US" sz="2000" dirty="0"/>
              <a:t> called by </a:t>
            </a:r>
            <a:r>
              <a:rPr lang="en-US" sz="2000" b="1" dirty="0">
                <a:solidFill>
                  <a:srgbClr val="034CA1"/>
                </a:solidFill>
                <a:latin typeface="Courier New" pitchFamily="49" charset="0"/>
              </a:rPr>
              <a:t>String</a:t>
            </a:r>
            <a:r>
              <a:rPr lang="en-US" sz="2000" dirty="0"/>
              <a:t> </a:t>
            </a:r>
            <a:r>
              <a:rPr lang="ga-IE" sz="2000" dirty="0"/>
              <a:t>class</a:t>
            </a:r>
            <a:r>
              <a:rPr lang="en-US" sz="2000" dirty="0"/>
              <a:t>, a dot, the name of the method, and a pair of parentheses to enclose any arguments</a:t>
            </a:r>
            <a:endParaRPr lang="ga-IE" sz="2000" dirty="0"/>
          </a:p>
          <a:p>
            <a:pPr marL="457200" lvl="1" indent="0">
              <a:lnSpc>
                <a:spcPct val="80000"/>
              </a:lnSpc>
              <a:buNone/>
            </a:pPr>
            <a:r>
              <a:rPr lang="ga-IE" sz="2000" dirty="0"/>
              <a:t>	</a:t>
            </a:r>
            <a:r>
              <a:rPr lang="en-US" sz="2000" dirty="0" err="1"/>
              <a:t>System.out.println</a:t>
            </a:r>
            <a:r>
              <a:rPr lang="en-US" sz="2000" dirty="0"/>
              <a:t>(</a:t>
            </a:r>
            <a:r>
              <a:rPr lang="en-US" sz="2000" dirty="0" err="1"/>
              <a:t>String.valueOf</a:t>
            </a:r>
            <a:r>
              <a:rPr lang="en-US" sz="2000" dirty="0"/>
              <a:t>('x'));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If a </a:t>
            </a:r>
            <a:r>
              <a:rPr lang="en-US" sz="2000" b="1" dirty="0">
                <a:solidFill>
                  <a:srgbClr val="034CA1"/>
                </a:solidFill>
                <a:latin typeface="Courier New" pitchFamily="49" charset="0"/>
              </a:rPr>
              <a:t>String</a:t>
            </a:r>
            <a:r>
              <a:rPr lang="en-US" sz="2000" dirty="0"/>
              <a:t> method returns a value, then it can be placed anywhere that a value of its type can be used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en-US" sz="2000" b="1" dirty="0">
                <a:solidFill>
                  <a:srgbClr val="034CA1"/>
                </a:solidFill>
                <a:latin typeface="Courier New" pitchFamily="49" charset="0"/>
              </a:rPr>
              <a:t>String greeting = "Hello";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en-US" sz="2000" b="1" dirty="0" err="1">
                <a:solidFill>
                  <a:srgbClr val="034CA1"/>
                </a:solidFill>
                <a:latin typeface="Courier New" pitchFamily="49" charset="0"/>
              </a:rPr>
              <a:t>int</a:t>
            </a:r>
            <a:r>
              <a:rPr lang="en-US" sz="2000" b="1" dirty="0">
                <a:solidFill>
                  <a:srgbClr val="034CA1"/>
                </a:solidFill>
                <a:latin typeface="Courier New" pitchFamily="49" charset="0"/>
              </a:rPr>
              <a:t> count = </a:t>
            </a:r>
            <a:r>
              <a:rPr lang="en-US" sz="2000" b="1" dirty="0" err="1">
                <a:solidFill>
                  <a:srgbClr val="034CA1"/>
                </a:solidFill>
                <a:latin typeface="Courier New" pitchFamily="49" charset="0"/>
              </a:rPr>
              <a:t>greeting.length</a:t>
            </a:r>
            <a:r>
              <a:rPr lang="en-US" sz="2000" b="1" dirty="0">
                <a:solidFill>
                  <a:srgbClr val="034CA1"/>
                </a:solidFill>
                <a:latin typeface="Courier New" pitchFamily="49" charset="0"/>
              </a:rPr>
              <a:t>();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en-US" sz="2000" b="1" dirty="0" err="1">
                <a:solidFill>
                  <a:srgbClr val="034CA1"/>
                </a:solidFill>
                <a:latin typeface="Courier New" pitchFamily="49" charset="0"/>
              </a:rPr>
              <a:t>System.out.println</a:t>
            </a:r>
            <a:r>
              <a:rPr lang="en-US" sz="2000" b="1" dirty="0">
                <a:solidFill>
                  <a:srgbClr val="034CA1"/>
                </a:solidFill>
                <a:latin typeface="Courier New" pitchFamily="49" charset="0"/>
              </a:rPr>
              <a:t>("Length is " + </a:t>
            </a:r>
            <a:r>
              <a:rPr lang="en-US" sz="2000" b="1" dirty="0" err="1">
                <a:solidFill>
                  <a:srgbClr val="034CA1"/>
                </a:solidFill>
                <a:latin typeface="Courier New" pitchFamily="49" charset="0"/>
              </a:rPr>
              <a:t>greeting.length</a:t>
            </a:r>
            <a:r>
              <a:rPr lang="en-US" sz="2000" b="1" dirty="0">
                <a:solidFill>
                  <a:srgbClr val="034CA1"/>
                </a:solidFill>
                <a:latin typeface="Courier New" pitchFamily="49" charset="0"/>
              </a:rPr>
              <a:t>());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EFEE-A431-42C2-AA32-9A7EFE65A575}" type="slidenum">
              <a:rPr lang="en-IE" smtClean="0"/>
              <a:t>21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84066772"/>
      </p:ext>
    </p:extLst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Console Input Using the </a:t>
            </a:r>
            <a:r>
              <a:rPr lang="en-US" sz="3200" b="1">
                <a:latin typeface="Courier New" pitchFamily="49" charset="0"/>
              </a:rPr>
              <a:t>Scanner</a:t>
            </a:r>
            <a:r>
              <a:rPr lang="en-US" sz="3200"/>
              <a:t> Class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Java includes a class for doing simple keyboard input named the </a:t>
            </a:r>
            <a:r>
              <a:rPr lang="en-US" sz="2400" b="1" dirty="0">
                <a:solidFill>
                  <a:srgbClr val="034CA1"/>
                </a:solidFill>
                <a:latin typeface="Courier New" pitchFamily="49" charset="0"/>
              </a:rPr>
              <a:t>Scanner</a:t>
            </a:r>
            <a:r>
              <a:rPr lang="en-US" sz="2400" dirty="0"/>
              <a:t> class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In order to use the </a:t>
            </a:r>
            <a:r>
              <a:rPr lang="en-US" sz="2400" b="1" dirty="0">
                <a:solidFill>
                  <a:srgbClr val="034CA1"/>
                </a:solidFill>
                <a:latin typeface="Courier New" pitchFamily="49" charset="0"/>
              </a:rPr>
              <a:t>Scanner</a:t>
            </a:r>
            <a:r>
              <a:rPr lang="en-US" sz="2400" dirty="0"/>
              <a:t> class, a program must include the following line near the start of the file: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sz="2000" b="1" dirty="0">
                <a:solidFill>
                  <a:srgbClr val="034CA1"/>
                </a:solidFill>
                <a:latin typeface="Courier New" pitchFamily="49" charset="0"/>
              </a:rPr>
              <a:t>import </a:t>
            </a:r>
            <a:r>
              <a:rPr lang="en-US" sz="2000" b="1" dirty="0" err="1">
                <a:solidFill>
                  <a:srgbClr val="034CA1"/>
                </a:solidFill>
                <a:latin typeface="Courier New" pitchFamily="49" charset="0"/>
              </a:rPr>
              <a:t>java.util.Scanner</a:t>
            </a:r>
            <a:endParaRPr lang="en-US" sz="2000" dirty="0"/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This statement tells Java to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Make the </a:t>
            </a:r>
            <a:r>
              <a:rPr lang="en-US" sz="2000" b="1" dirty="0">
                <a:solidFill>
                  <a:srgbClr val="034CA1"/>
                </a:solidFill>
                <a:latin typeface="Courier New" pitchFamily="49" charset="0"/>
              </a:rPr>
              <a:t>Scanner</a:t>
            </a:r>
            <a:r>
              <a:rPr lang="en-US" sz="2000" dirty="0"/>
              <a:t> class available to the program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Find the </a:t>
            </a:r>
            <a:r>
              <a:rPr lang="en-US" sz="2000" b="1" dirty="0">
                <a:solidFill>
                  <a:srgbClr val="034CA1"/>
                </a:solidFill>
                <a:latin typeface="Courier New" pitchFamily="49" charset="0"/>
              </a:rPr>
              <a:t>Scanner</a:t>
            </a:r>
            <a:r>
              <a:rPr lang="en-US" sz="2000" dirty="0"/>
              <a:t> class in a library of classes (i.e., Java </a:t>
            </a:r>
            <a:r>
              <a:rPr lang="en-US" sz="2000" i="1" dirty="0"/>
              <a:t>package</a:t>
            </a:r>
            <a:r>
              <a:rPr lang="en-US" sz="2000" dirty="0"/>
              <a:t>) named </a:t>
            </a:r>
            <a:r>
              <a:rPr lang="en-US" sz="2000" b="1" dirty="0" err="1">
                <a:solidFill>
                  <a:srgbClr val="034CA1"/>
                </a:solidFill>
                <a:latin typeface="Courier New" pitchFamily="49" charset="0"/>
              </a:rPr>
              <a:t>java.util</a:t>
            </a:r>
            <a:endParaRPr lang="en-US" sz="2000" b="1" dirty="0">
              <a:solidFill>
                <a:srgbClr val="034CA1"/>
              </a:solidFill>
              <a:latin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EFEE-A431-42C2-AA32-9A7EFE65A575}" type="slidenum">
              <a:rPr lang="en-IE" smtClean="0"/>
              <a:t>22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5870227"/>
      </p:ext>
    </p:extLst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Console Input Using the </a:t>
            </a:r>
            <a:r>
              <a:rPr lang="en-US" sz="3200" b="1">
                <a:latin typeface="Courier New" pitchFamily="49" charset="0"/>
              </a:rPr>
              <a:t>Scanner</a:t>
            </a:r>
            <a:r>
              <a:rPr lang="en-US" sz="3200"/>
              <a:t> Class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676400"/>
            <a:ext cx="7670800" cy="4140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The following line creates an object of the class </a:t>
            </a:r>
            <a:r>
              <a:rPr lang="en-US" sz="2400" b="1" dirty="0">
                <a:solidFill>
                  <a:srgbClr val="034CA1"/>
                </a:solidFill>
                <a:latin typeface="Courier New" pitchFamily="49" charset="0"/>
              </a:rPr>
              <a:t>Scanner</a:t>
            </a:r>
            <a:r>
              <a:rPr lang="en-US" sz="2400" dirty="0"/>
              <a:t> and names the object </a:t>
            </a:r>
            <a:r>
              <a:rPr lang="en-US" sz="2400" b="1" dirty="0">
                <a:solidFill>
                  <a:srgbClr val="034CA1"/>
                </a:solidFill>
                <a:latin typeface="Courier New" pitchFamily="49" charset="0"/>
              </a:rPr>
              <a:t>input</a:t>
            </a:r>
            <a:r>
              <a:rPr lang="en-US" sz="2400" dirty="0"/>
              <a:t> 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sz="2000" b="1" dirty="0">
                <a:solidFill>
                  <a:srgbClr val="034CA1"/>
                </a:solidFill>
                <a:latin typeface="Courier New" pitchFamily="49" charset="0"/>
              </a:rPr>
              <a:t>Scanner input = new Scanner(System.in);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Once a </a:t>
            </a:r>
            <a:r>
              <a:rPr lang="en-US" sz="2400" b="1" dirty="0">
                <a:solidFill>
                  <a:srgbClr val="034CA1"/>
                </a:solidFill>
                <a:latin typeface="Courier New" pitchFamily="49" charset="0"/>
              </a:rPr>
              <a:t>Scanner</a:t>
            </a:r>
            <a:r>
              <a:rPr lang="en-US" sz="2400" dirty="0"/>
              <a:t> object has been created, a program can then use that object to perform keyboard input using methods of the </a:t>
            </a:r>
            <a:r>
              <a:rPr lang="en-US" sz="2400" b="1" dirty="0">
                <a:solidFill>
                  <a:srgbClr val="034CA1"/>
                </a:solidFill>
                <a:latin typeface="Courier New" pitchFamily="49" charset="0"/>
              </a:rPr>
              <a:t>Scanner</a:t>
            </a:r>
            <a:r>
              <a:rPr lang="en-US" sz="2400" dirty="0"/>
              <a:t> class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EFEE-A431-42C2-AA32-9A7EFE65A575}" type="slidenum">
              <a:rPr lang="en-IE" smtClean="0"/>
              <a:t>23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62158854"/>
      </p:ext>
    </p:extLst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Console Input Using the </a:t>
            </a:r>
            <a:r>
              <a:rPr lang="en-US" sz="3200" b="1">
                <a:latin typeface="Courier New" pitchFamily="49" charset="0"/>
              </a:rPr>
              <a:t>Scanner</a:t>
            </a:r>
            <a:r>
              <a:rPr lang="en-US" sz="3200"/>
              <a:t> Class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676400"/>
            <a:ext cx="7721600" cy="4038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The  method </a:t>
            </a:r>
            <a:r>
              <a:rPr lang="en-US" sz="2400" b="1" dirty="0" err="1">
                <a:solidFill>
                  <a:srgbClr val="034CA1"/>
                </a:solidFill>
                <a:latin typeface="Courier New" pitchFamily="49" charset="0"/>
              </a:rPr>
              <a:t>nextInt</a:t>
            </a:r>
            <a:r>
              <a:rPr lang="en-US" sz="2400" dirty="0"/>
              <a:t> reads one </a:t>
            </a:r>
            <a:r>
              <a:rPr lang="en-US" sz="2400" b="1" dirty="0">
                <a:solidFill>
                  <a:srgbClr val="034CA1"/>
                </a:solidFill>
                <a:latin typeface="Courier New" pitchFamily="49" charset="0"/>
              </a:rPr>
              <a:t>int</a:t>
            </a:r>
            <a:r>
              <a:rPr lang="en-US" sz="2400" dirty="0"/>
              <a:t> value typed in at the keyboard and assigns it to a variable: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sz="2000" b="1" dirty="0">
                <a:solidFill>
                  <a:srgbClr val="034CA1"/>
                </a:solidFill>
                <a:latin typeface="Courier New" pitchFamily="49" charset="0"/>
              </a:rPr>
              <a:t>int </a:t>
            </a:r>
            <a:r>
              <a:rPr lang="en-US" sz="2000" b="1" dirty="0" err="1">
                <a:solidFill>
                  <a:srgbClr val="034CA1"/>
                </a:solidFill>
                <a:latin typeface="Courier New" pitchFamily="49" charset="0"/>
              </a:rPr>
              <a:t>numberOfPods</a:t>
            </a:r>
            <a:r>
              <a:rPr lang="en-US" sz="2000" b="1" dirty="0">
                <a:solidFill>
                  <a:srgbClr val="034CA1"/>
                </a:solidFill>
                <a:latin typeface="Courier New" pitchFamily="49" charset="0"/>
              </a:rPr>
              <a:t> = </a:t>
            </a:r>
            <a:r>
              <a:rPr lang="en-US" sz="2000" b="1" dirty="0" err="1">
                <a:solidFill>
                  <a:srgbClr val="034CA1"/>
                </a:solidFill>
                <a:latin typeface="Courier New" pitchFamily="49" charset="0"/>
              </a:rPr>
              <a:t>input.nextInt</a:t>
            </a:r>
            <a:r>
              <a:rPr lang="en-US" sz="2000" b="1" dirty="0">
                <a:solidFill>
                  <a:srgbClr val="034CA1"/>
                </a:solidFill>
                <a:latin typeface="Courier New" pitchFamily="49" charset="0"/>
              </a:rPr>
              <a:t>();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The method </a:t>
            </a:r>
            <a:r>
              <a:rPr lang="en-US" sz="2400" b="1" dirty="0" err="1">
                <a:solidFill>
                  <a:srgbClr val="034CA1"/>
                </a:solidFill>
                <a:latin typeface="Courier New" pitchFamily="49" charset="0"/>
              </a:rPr>
              <a:t>nextDouble</a:t>
            </a:r>
            <a:r>
              <a:rPr lang="en-US" sz="2400" dirty="0"/>
              <a:t> reads one </a:t>
            </a:r>
            <a:r>
              <a:rPr lang="en-US" sz="2400" b="1" dirty="0">
                <a:solidFill>
                  <a:srgbClr val="034CA1"/>
                </a:solidFill>
                <a:latin typeface="Courier New" pitchFamily="49" charset="0"/>
              </a:rPr>
              <a:t>double</a:t>
            </a:r>
            <a:r>
              <a:rPr lang="en-US" sz="2400" dirty="0"/>
              <a:t> value typed in at the keyboard and assigns it to a variable: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sz="2000" b="1" dirty="0">
                <a:solidFill>
                  <a:srgbClr val="034CA1"/>
                </a:solidFill>
                <a:latin typeface="Courier New" pitchFamily="49" charset="0"/>
              </a:rPr>
              <a:t>double d1 = </a:t>
            </a:r>
            <a:r>
              <a:rPr lang="en-US" sz="2000" b="1" dirty="0" err="1">
                <a:solidFill>
                  <a:srgbClr val="034CA1"/>
                </a:solidFill>
                <a:latin typeface="Courier New" pitchFamily="49" charset="0"/>
              </a:rPr>
              <a:t>input.nextDouble</a:t>
            </a:r>
            <a:r>
              <a:rPr lang="en-US" sz="2000" b="1" dirty="0">
                <a:solidFill>
                  <a:srgbClr val="034CA1"/>
                </a:solidFill>
                <a:latin typeface="Courier New" pitchFamily="49" charset="0"/>
              </a:rPr>
              <a:t>();</a:t>
            </a:r>
            <a:endParaRPr lang="en-US" sz="2000" dirty="0"/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Multiple inputs must be separated by </a:t>
            </a:r>
            <a:r>
              <a:rPr lang="en-US" sz="2400" i="1" dirty="0"/>
              <a:t>whitespace</a:t>
            </a:r>
            <a:r>
              <a:rPr lang="en-US" sz="2400" dirty="0"/>
              <a:t> and read by multiple invocations of the appropriate  method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Whitespace is any string of characters, such as blank spaces, tabs, and line breaks that print out as white space</a:t>
            </a:r>
          </a:p>
          <a:p>
            <a:pPr lvl="1" eaLnBrk="1" hangingPunct="1">
              <a:lnSpc>
                <a:spcPct val="90000"/>
              </a:lnSpc>
            </a:pPr>
            <a:endParaRPr lang="en-US" sz="2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EFEE-A431-42C2-AA32-9A7EFE65A575}" type="slidenum">
              <a:rPr lang="en-IE" smtClean="0"/>
              <a:t>24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9032111"/>
      </p:ext>
    </p:extLst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Console Input Using the </a:t>
            </a:r>
            <a:r>
              <a:rPr lang="en-US" sz="3200" b="1">
                <a:latin typeface="Courier New" pitchFamily="49" charset="0"/>
              </a:rPr>
              <a:t>Scanner</a:t>
            </a:r>
            <a:r>
              <a:rPr lang="en-US" sz="3200"/>
              <a:t> Class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676400"/>
            <a:ext cx="7721600" cy="4038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The  method </a:t>
            </a:r>
            <a:r>
              <a:rPr lang="en-US" sz="2400" b="1" dirty="0">
                <a:solidFill>
                  <a:srgbClr val="034CA1"/>
                </a:solidFill>
                <a:latin typeface="Courier New" pitchFamily="49" charset="0"/>
              </a:rPr>
              <a:t>next</a:t>
            </a:r>
            <a:r>
              <a:rPr lang="en-US" sz="2400" dirty="0"/>
              <a:t> reads one string of non-whitespace characters delimited by whitespace characters such as blanks or the beginning or end of a line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Given the code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sz="2000" b="1" dirty="0">
                <a:solidFill>
                  <a:srgbClr val="034CA1"/>
                </a:solidFill>
                <a:latin typeface="Courier New" pitchFamily="49" charset="0"/>
              </a:rPr>
              <a:t>String word1 = </a:t>
            </a:r>
            <a:r>
              <a:rPr lang="en-US" sz="2000" b="1" dirty="0" err="1">
                <a:solidFill>
                  <a:srgbClr val="034CA1"/>
                </a:solidFill>
                <a:latin typeface="Courier New" pitchFamily="49" charset="0"/>
              </a:rPr>
              <a:t>input.next</a:t>
            </a:r>
            <a:r>
              <a:rPr lang="en-US" sz="2000" b="1" dirty="0">
                <a:solidFill>
                  <a:srgbClr val="034CA1"/>
                </a:solidFill>
                <a:latin typeface="Courier New" pitchFamily="49" charset="0"/>
              </a:rPr>
              <a:t>();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sz="2000" b="1" dirty="0">
                <a:solidFill>
                  <a:srgbClr val="034CA1"/>
                </a:solidFill>
                <a:latin typeface="Courier New" pitchFamily="49" charset="0"/>
              </a:rPr>
              <a:t>String word2 = </a:t>
            </a:r>
            <a:r>
              <a:rPr lang="en-US" sz="2000" b="1" dirty="0" err="1">
                <a:solidFill>
                  <a:srgbClr val="034CA1"/>
                </a:solidFill>
                <a:latin typeface="Courier New" pitchFamily="49" charset="0"/>
              </a:rPr>
              <a:t>input.next</a:t>
            </a:r>
            <a:r>
              <a:rPr lang="en-US" sz="2000" b="1" dirty="0">
                <a:solidFill>
                  <a:srgbClr val="034CA1"/>
                </a:solidFill>
                <a:latin typeface="Courier New" pitchFamily="49" charset="0"/>
              </a:rPr>
              <a:t>();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dirty="0"/>
              <a:t>	and the input line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sz="2000" b="1" dirty="0">
                <a:solidFill>
                  <a:srgbClr val="034CA1"/>
                </a:solidFill>
                <a:latin typeface="Courier New" pitchFamily="49" charset="0"/>
              </a:rPr>
              <a:t>jelly beans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dirty="0"/>
              <a:t>      The value of </a:t>
            </a:r>
            <a:r>
              <a:rPr lang="en-US" sz="2400" b="1" dirty="0">
                <a:solidFill>
                  <a:srgbClr val="034CA1"/>
                </a:solidFill>
                <a:latin typeface="Courier New" pitchFamily="49" charset="0"/>
              </a:rPr>
              <a:t>word1</a:t>
            </a:r>
            <a:r>
              <a:rPr lang="en-US" sz="2400" dirty="0"/>
              <a:t> would be </a:t>
            </a:r>
            <a:r>
              <a:rPr lang="en-US" sz="2400" b="1" dirty="0">
                <a:solidFill>
                  <a:srgbClr val="034CA1"/>
                </a:solidFill>
                <a:latin typeface="Courier New" pitchFamily="49" charset="0"/>
              </a:rPr>
              <a:t>jelly</a:t>
            </a:r>
            <a:r>
              <a:rPr lang="en-US" sz="2400" dirty="0"/>
              <a:t>, and the value of </a:t>
            </a:r>
            <a:r>
              <a:rPr lang="en-US" sz="2400" b="1" dirty="0">
                <a:solidFill>
                  <a:srgbClr val="034CA1"/>
                </a:solidFill>
                <a:latin typeface="Courier New" pitchFamily="49" charset="0"/>
              </a:rPr>
              <a:t>word2</a:t>
            </a:r>
            <a:r>
              <a:rPr lang="en-US" sz="2400" dirty="0"/>
              <a:t> would be </a:t>
            </a:r>
            <a:r>
              <a:rPr lang="en-US" sz="2400" b="1" dirty="0">
                <a:solidFill>
                  <a:srgbClr val="034CA1"/>
                </a:solidFill>
                <a:latin typeface="Courier New" pitchFamily="49" charset="0"/>
              </a:rPr>
              <a:t>beans</a:t>
            </a:r>
            <a:endParaRPr lang="en-US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EFEE-A431-42C2-AA32-9A7EFE65A575}" type="slidenum">
              <a:rPr lang="en-IE" smtClean="0"/>
              <a:t>25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98220019"/>
      </p:ext>
    </p:extLst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Console Input Using the </a:t>
            </a:r>
            <a:r>
              <a:rPr lang="en-US" sz="3200" b="1">
                <a:latin typeface="Courier New" pitchFamily="49" charset="0"/>
              </a:rPr>
              <a:t>Scanner</a:t>
            </a:r>
            <a:r>
              <a:rPr lang="en-US" sz="3200"/>
              <a:t> Class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676400"/>
            <a:ext cx="7721600" cy="43434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000" dirty="0"/>
              <a:t>The method </a:t>
            </a:r>
            <a:r>
              <a:rPr lang="en-US" sz="2000" b="1" dirty="0" err="1">
                <a:solidFill>
                  <a:srgbClr val="034CA1"/>
                </a:solidFill>
                <a:latin typeface="Courier New" pitchFamily="49" charset="0"/>
              </a:rPr>
              <a:t>nextLine</a:t>
            </a:r>
            <a:r>
              <a:rPr lang="en-US" sz="2000" dirty="0"/>
              <a:t> reads an entire line of keyboard input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dirty="0"/>
              <a:t>The code,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sz="1800" b="1" dirty="0">
                <a:solidFill>
                  <a:srgbClr val="034CA1"/>
                </a:solidFill>
                <a:latin typeface="Courier New" pitchFamily="49" charset="0"/>
              </a:rPr>
              <a:t>String line = </a:t>
            </a:r>
            <a:r>
              <a:rPr lang="en-US" sz="1800" b="1" dirty="0" err="1">
                <a:solidFill>
                  <a:srgbClr val="034CA1"/>
                </a:solidFill>
                <a:latin typeface="Courier New" pitchFamily="49" charset="0"/>
              </a:rPr>
              <a:t>input.nextLine</a:t>
            </a:r>
            <a:r>
              <a:rPr lang="en-US" sz="1800" b="1" dirty="0">
                <a:solidFill>
                  <a:srgbClr val="034CA1"/>
                </a:solidFill>
                <a:latin typeface="Courier New" pitchFamily="49" charset="0"/>
              </a:rPr>
              <a:t>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dirty="0"/>
              <a:t>	reads in an entire line and places the string that is read into the variable </a:t>
            </a:r>
            <a:r>
              <a:rPr lang="en-US" sz="2000" b="1" dirty="0">
                <a:solidFill>
                  <a:srgbClr val="034CA1"/>
                </a:solidFill>
                <a:latin typeface="Courier New" pitchFamily="49" charset="0"/>
              </a:rPr>
              <a:t>line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EFEE-A431-42C2-AA32-9A7EFE65A575}" type="slidenum">
              <a:rPr lang="en-IE" smtClean="0"/>
              <a:t>26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82235704"/>
      </p:ext>
    </p:extLst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Keyboard Input Demonstration </a:t>
            </a:r>
            <a:br>
              <a:rPr lang="en-US" sz="3200"/>
            </a:br>
            <a:r>
              <a:rPr lang="en-US" sz="3200"/>
              <a:t>(Part 1 of 2)</a:t>
            </a:r>
          </a:p>
        </p:txBody>
      </p:sp>
      <p:pic>
        <p:nvPicPr>
          <p:cNvPr id="45059" name="Picture 5" descr="savitch_c02d06_1of2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8" b="2362"/>
          <a:stretch>
            <a:fillRect/>
          </a:stretch>
        </p:blipFill>
        <p:spPr bwMode="auto">
          <a:xfrm>
            <a:off x="863600" y="1346200"/>
            <a:ext cx="7772400" cy="517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EFEE-A431-42C2-AA32-9A7EFE65A575}" type="slidenum">
              <a:rPr lang="en-IE" smtClean="0"/>
              <a:t>27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66000294"/>
      </p:ext>
    </p:extLst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Methods in the Class </a:t>
            </a:r>
            <a:r>
              <a:rPr lang="en-US" sz="3200" b="1">
                <a:latin typeface="Courier New" pitchFamily="49" charset="0"/>
              </a:rPr>
              <a:t>Scanner</a:t>
            </a:r>
            <a:r>
              <a:rPr lang="en-US" sz="3200"/>
              <a:t> </a:t>
            </a:r>
            <a:br>
              <a:rPr lang="en-US" sz="3200"/>
            </a:br>
            <a:r>
              <a:rPr lang="en-US" sz="3200"/>
              <a:t>(Part 2 of 3)</a:t>
            </a:r>
            <a:endParaRPr lang="en-US" sz="3200" b="1">
              <a:latin typeface="Courier New" pitchFamily="49" charset="0"/>
            </a:endParaRPr>
          </a:p>
        </p:txBody>
      </p:sp>
      <p:pic>
        <p:nvPicPr>
          <p:cNvPr id="53251" name="Picture 3" descr="savitch_c02d08_2of3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0" y="1295400"/>
            <a:ext cx="6937375" cy="435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EFEE-A431-42C2-AA32-9A7EFE65A575}" type="slidenum">
              <a:rPr lang="en-IE" smtClean="0"/>
              <a:t>28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55039720"/>
      </p:ext>
    </p:extLst>
  </p:cSld>
  <p:clrMapOvr>
    <a:masterClrMapping/>
  </p:clrMapOvr>
  <p:transition spd="med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Methods in the Class </a:t>
            </a:r>
            <a:r>
              <a:rPr lang="en-US" sz="3200" b="1">
                <a:latin typeface="Courier New" pitchFamily="49" charset="0"/>
              </a:rPr>
              <a:t>Scanner</a:t>
            </a:r>
            <a:r>
              <a:rPr lang="en-US" sz="3200"/>
              <a:t> </a:t>
            </a:r>
            <a:br>
              <a:rPr lang="en-US" sz="3200"/>
            </a:br>
            <a:r>
              <a:rPr lang="en-US" sz="3200"/>
              <a:t>(Part 3 of 3)</a:t>
            </a:r>
            <a:endParaRPr lang="en-US" sz="3200" b="1">
              <a:latin typeface="Courier New" pitchFamily="49" charset="0"/>
            </a:endParaRPr>
          </a:p>
        </p:txBody>
      </p:sp>
      <p:pic>
        <p:nvPicPr>
          <p:cNvPr id="54275" name="Picture 3" descr="savitch_c02d08_3of3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0" y="1295400"/>
            <a:ext cx="6856413" cy="466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EFEE-A431-42C2-AA32-9A7EFE65A575}" type="slidenum">
              <a:rPr lang="en-IE" smtClean="0"/>
              <a:t>29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16757683"/>
      </p:ext>
    </p:extLst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Other Input Delimiters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The delimiters that separate keyboard input can be changed when using the </a:t>
            </a:r>
            <a:r>
              <a:rPr lang="en-US" sz="2400" b="1" dirty="0">
                <a:solidFill>
                  <a:srgbClr val="034CA1"/>
                </a:solidFill>
                <a:latin typeface="Courier New" pitchFamily="49" charset="0"/>
              </a:rPr>
              <a:t>Scanner</a:t>
            </a:r>
            <a:r>
              <a:rPr lang="en-US" sz="2400" dirty="0"/>
              <a:t> class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For example, the following code could be used to create a </a:t>
            </a:r>
            <a:r>
              <a:rPr lang="en-US" sz="2400" b="1" dirty="0">
                <a:solidFill>
                  <a:srgbClr val="034CA1"/>
                </a:solidFill>
                <a:latin typeface="Courier New" pitchFamily="49" charset="0"/>
              </a:rPr>
              <a:t>Scanner</a:t>
            </a:r>
            <a:r>
              <a:rPr lang="en-US" sz="2400" dirty="0"/>
              <a:t> object and change the delimiter from whitespace to </a:t>
            </a:r>
            <a:r>
              <a:rPr lang="en-US" sz="2400" b="1" dirty="0">
                <a:solidFill>
                  <a:srgbClr val="034CA1"/>
                </a:solidFill>
                <a:latin typeface="Courier New" pitchFamily="49" charset="0"/>
              </a:rPr>
              <a:t>"##"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sz="2000" b="1" dirty="0">
                <a:solidFill>
                  <a:srgbClr val="034CA1"/>
                </a:solidFill>
                <a:latin typeface="Courier New" pitchFamily="49" charset="0"/>
              </a:rPr>
              <a:t>Scanner input = new Scanner(System.in);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sz="2000" b="1" dirty="0" err="1">
                <a:solidFill>
                  <a:srgbClr val="034CA1"/>
                </a:solidFill>
                <a:latin typeface="Courier New" pitchFamily="49" charset="0"/>
              </a:rPr>
              <a:t>input.useDelimiter</a:t>
            </a:r>
            <a:r>
              <a:rPr lang="en-US" sz="2000" b="1" dirty="0">
                <a:solidFill>
                  <a:srgbClr val="034CA1"/>
                </a:solidFill>
                <a:latin typeface="Courier New" pitchFamily="49" charset="0"/>
              </a:rPr>
              <a:t>("##");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After invocation of the </a:t>
            </a:r>
            <a:r>
              <a:rPr lang="en-US" sz="2400" b="1" dirty="0" err="1">
                <a:solidFill>
                  <a:srgbClr val="034CA1"/>
                </a:solidFill>
                <a:latin typeface="Courier New" pitchFamily="49" charset="0"/>
              </a:rPr>
              <a:t>useDelimiter</a:t>
            </a:r>
            <a:r>
              <a:rPr lang="en-US" sz="2400" dirty="0"/>
              <a:t> method, </a:t>
            </a:r>
            <a:r>
              <a:rPr lang="en-US" sz="2400" b="1" dirty="0">
                <a:solidFill>
                  <a:srgbClr val="034CA1"/>
                </a:solidFill>
                <a:latin typeface="Courier New" pitchFamily="49" charset="0"/>
              </a:rPr>
              <a:t>"##"</a:t>
            </a:r>
            <a:r>
              <a:rPr lang="en-US" sz="2400" dirty="0"/>
              <a:t> and not whitespace will be the only input delimiter for the input object </a:t>
            </a:r>
            <a:r>
              <a:rPr lang="en-US" sz="2400" b="1" dirty="0">
                <a:solidFill>
                  <a:srgbClr val="034CA1"/>
                </a:solidFill>
                <a:latin typeface="Courier New" pitchFamily="49" charset="0"/>
              </a:rPr>
              <a:t>input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EFEE-A431-42C2-AA32-9A7EFE65A575}" type="slidenum">
              <a:rPr lang="en-IE" smtClean="0"/>
              <a:t>30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74958317"/>
      </p:ext>
    </p:extLst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 dirty="0"/>
              <a:t>Exercise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ga-IE" dirty="0"/>
              <a:t>Write a program to:</a:t>
            </a:r>
          </a:p>
          <a:p>
            <a:r>
              <a:rPr lang="ga-IE" dirty="0"/>
              <a:t> Create two Scanner objects, sc1, sc2</a:t>
            </a:r>
          </a:p>
          <a:p>
            <a:r>
              <a:rPr lang="ga-IE" dirty="0"/>
              <a:t>Change the delimiter for the second object, sc2 to ##</a:t>
            </a:r>
          </a:p>
          <a:p>
            <a:r>
              <a:rPr lang="ga-IE" dirty="0"/>
              <a:t>Use the next() method to input two words</a:t>
            </a:r>
          </a:p>
          <a:p>
            <a:r>
              <a:rPr lang="ga-IE" dirty="0"/>
              <a:t>Input the following string, one two##three using sc1 first and then sc2</a:t>
            </a:r>
          </a:p>
          <a:p>
            <a:r>
              <a:rPr lang="ga-IE" dirty="0"/>
              <a:t>Output the words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EFEE-A431-42C2-AA32-9A7EFE65A575}" type="slidenum">
              <a:rPr lang="en-IE" smtClean="0"/>
              <a:t>31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2533296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11520</TotalTime>
  <Words>2311</Words>
  <Application>Microsoft Office PowerPoint</Application>
  <PresentationFormat>On-screen Show (4:3)</PresentationFormat>
  <Paragraphs>307</Paragraphs>
  <Slides>31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Courier New</vt:lpstr>
      <vt:lpstr>Office Theme</vt:lpstr>
      <vt:lpstr>OOP</vt:lpstr>
      <vt:lpstr>Java API</vt:lpstr>
      <vt:lpstr>Calling Methods</vt:lpstr>
      <vt:lpstr>Calling Methods</vt:lpstr>
      <vt:lpstr>Packages</vt:lpstr>
      <vt:lpstr>Example</vt:lpstr>
      <vt:lpstr>Java Programs</vt:lpstr>
      <vt:lpstr>Primitive Types</vt:lpstr>
      <vt:lpstr>Assignment Compatibility</vt:lpstr>
      <vt:lpstr>Type Casting</vt:lpstr>
      <vt:lpstr>Type Casting</vt:lpstr>
      <vt:lpstr>The Class String</vt:lpstr>
      <vt:lpstr>Classes, Objects, and Methods</vt:lpstr>
      <vt:lpstr>Example</vt:lpstr>
      <vt:lpstr>Java Comparison Operators</vt:lpstr>
      <vt:lpstr>Pitfall:  Using == with Strings</vt:lpstr>
      <vt:lpstr>Invoking or calling a method   </vt:lpstr>
      <vt:lpstr>Invoking or calling a method:   </vt:lpstr>
      <vt:lpstr>Invoking or calling a method</vt:lpstr>
      <vt:lpstr>Invoking or calling a method:   </vt:lpstr>
      <vt:lpstr>String Methods</vt:lpstr>
      <vt:lpstr>Console Input Using the Scanner Class</vt:lpstr>
      <vt:lpstr>Console Input Using the Scanner Class</vt:lpstr>
      <vt:lpstr>Console Input Using the Scanner Class</vt:lpstr>
      <vt:lpstr>Console Input Using the Scanner Class</vt:lpstr>
      <vt:lpstr>Console Input Using the Scanner Class</vt:lpstr>
      <vt:lpstr>Keyboard Input Demonstration  (Part 1 of 2)</vt:lpstr>
      <vt:lpstr>Methods in the Class Scanner  (Part 2 of 3)</vt:lpstr>
      <vt:lpstr>Methods in the Class Scanner  (Part 3 of 3)</vt:lpstr>
      <vt:lpstr>Other Input Delimiters</vt:lpstr>
      <vt:lpstr>Exercise</vt:lpstr>
    </vt:vector>
  </TitlesOfParts>
  <Company>Dundalk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brosnanb</dc:creator>
  <cp:lastModifiedBy>Michelle Graham</cp:lastModifiedBy>
  <cp:revision>30</cp:revision>
  <cp:lastPrinted>2016-09-19T14:23:48Z</cp:lastPrinted>
  <dcterms:created xsi:type="dcterms:W3CDTF">2016-09-12T13:11:55Z</dcterms:created>
  <dcterms:modified xsi:type="dcterms:W3CDTF">2026-09-16T00:07:58Z</dcterms:modified>
</cp:coreProperties>
</file>