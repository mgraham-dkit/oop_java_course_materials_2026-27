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75" r:id="rId7"/>
    <p:sldId id="276" r:id="rId8"/>
    <p:sldId id="279" r:id="rId9"/>
    <p:sldId id="277" r:id="rId10"/>
    <p:sldId id="280" r:id="rId11"/>
    <p:sldId id="281" r:id="rId12"/>
    <p:sldId id="278" r:id="rId13"/>
    <p:sldId id="261" r:id="rId14"/>
    <p:sldId id="282" r:id="rId15"/>
    <p:sldId id="263" r:id="rId16"/>
    <p:sldId id="262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13CE1D6-E0F1-415D-8F3C-EC10F1A710C0}">
          <p14:sldIdLst>
            <p14:sldId id="256"/>
            <p14:sldId id="257"/>
            <p14:sldId id="258"/>
          </p14:sldIdLst>
        </p14:section>
        <p14:section name="Basic Class Definition" id="{48AE570A-3EF8-4D81-93E5-E6249700226A}">
          <p14:sldIdLst>
            <p14:sldId id="259"/>
            <p14:sldId id="260"/>
          </p14:sldIdLst>
        </p14:section>
        <p14:section name="Naming conventions" id="{38E5EAF4-CAD4-4796-ACDF-8259B3819C70}">
          <p14:sldIdLst>
            <p14:sldId id="275"/>
            <p14:sldId id="276"/>
            <p14:sldId id="279"/>
            <p14:sldId id="277"/>
            <p14:sldId id="280"/>
            <p14:sldId id="281"/>
            <p14:sldId id="278"/>
          </p14:sldIdLst>
        </p14:section>
        <p14:section name="Adding state" id="{9D95A682-AB13-42A3-9C50-E0F06CC44A4A}">
          <p14:sldIdLst>
            <p14:sldId id="261"/>
            <p14:sldId id="282"/>
            <p14:sldId id="263"/>
            <p14:sldId id="262"/>
          </p14:sldIdLst>
        </p14:section>
        <p14:section name="Adding behaviour" id="{671A0207-2174-4593-9D12-70181E75480B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4180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777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299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847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31468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21302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6672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3695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50430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02069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89984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FEC7C34-F4EF-4F0A-B9AE-A8DDABF3D064}" type="datetimeFigureOut">
              <a:rPr lang="en-IE" smtClean="0"/>
              <a:t>23/09/2026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9D3ED9A-1DB3-4D2B-98B8-92D56B88BEB4}" type="slidenum">
              <a:rPr lang="en-IE" smtClean="0"/>
              <a:t>‹#›</a:t>
            </a:fld>
            <a:endParaRPr lang="en-I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634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25EA-35FD-5B3A-565F-DBB0C08376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Introducing Classes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76B09-493F-C866-242B-21077174A3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Modelling the real world in code</a:t>
            </a:r>
          </a:p>
        </p:txBody>
      </p:sp>
    </p:spTree>
    <p:extLst>
      <p:ext uri="{BB962C8B-B14F-4D97-AF65-F5344CB8AC3E}">
        <p14:creationId xmlns:p14="http://schemas.microsoft.com/office/powerpoint/2010/main" val="1919027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322FC-6F1A-7F00-8E44-3DD659EF9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 Note on Programming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2BF5C-A4DA-8B00-EC4A-6FAC5BEB4D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IE" sz="3200" dirty="0"/>
              <a:t>Up until now we have used </a:t>
            </a:r>
            <a:r>
              <a:rPr lang="en-IE" sz="3200" u="sng" dirty="0"/>
              <a:t>procedural</a:t>
            </a:r>
            <a:r>
              <a:rPr lang="en-IE" sz="3200" dirty="0"/>
              <a:t> programming</a:t>
            </a:r>
          </a:p>
          <a:p>
            <a:pPr lvl="2"/>
            <a:r>
              <a:rPr lang="en-IE" sz="2800" dirty="0">
                <a:solidFill>
                  <a:srgbClr val="FF0000"/>
                </a:solidFill>
              </a:rPr>
              <a:t>Action</a:t>
            </a:r>
            <a:r>
              <a:rPr lang="en-IE" sz="2800" dirty="0"/>
              <a:t>-driven</a:t>
            </a:r>
          </a:p>
          <a:p>
            <a:pPr lvl="2"/>
            <a:r>
              <a:rPr lang="en-IE" sz="2800" dirty="0"/>
              <a:t>Call procedures (functions) to carry out actions</a:t>
            </a:r>
          </a:p>
          <a:p>
            <a:pPr lvl="2"/>
            <a:r>
              <a:rPr lang="en-IE" sz="2800" dirty="0"/>
              <a:t>Everything is about steps/logic to be done, not about data to be worked with</a:t>
            </a:r>
          </a:p>
          <a:p>
            <a:pPr lvl="2"/>
            <a:endParaRPr lang="en-IE" sz="2800" dirty="0"/>
          </a:p>
          <a:p>
            <a:pPr lvl="1"/>
            <a:r>
              <a:rPr lang="en-IE" sz="3200" dirty="0"/>
              <a:t>Another programming style is </a:t>
            </a:r>
            <a:r>
              <a:rPr lang="en-IE" sz="3200" u="sng" dirty="0"/>
              <a:t>object-oriented</a:t>
            </a:r>
            <a:r>
              <a:rPr lang="en-IE" sz="3200" dirty="0"/>
              <a:t> programming</a:t>
            </a:r>
          </a:p>
          <a:p>
            <a:pPr lvl="2"/>
            <a:r>
              <a:rPr lang="en-IE" sz="2800" dirty="0">
                <a:solidFill>
                  <a:srgbClr val="FF0000"/>
                </a:solidFill>
              </a:rPr>
              <a:t>Data</a:t>
            </a:r>
            <a:r>
              <a:rPr lang="en-IE" sz="2800" dirty="0"/>
              <a:t>-driven</a:t>
            </a:r>
          </a:p>
          <a:p>
            <a:pPr lvl="2"/>
            <a:r>
              <a:rPr lang="en-IE" sz="2800" dirty="0"/>
              <a:t>Data is bundled in objects</a:t>
            </a:r>
          </a:p>
          <a:p>
            <a:pPr lvl="2"/>
            <a:r>
              <a:rPr lang="en-IE" sz="2800" dirty="0"/>
              <a:t>Objects have abilities (methods) they can perform on their own data</a:t>
            </a:r>
          </a:p>
          <a:p>
            <a:pPr lvl="2"/>
            <a:endParaRPr lang="en-IE" sz="2800" dirty="0"/>
          </a:p>
        </p:txBody>
      </p:sp>
    </p:spTree>
    <p:extLst>
      <p:ext uri="{BB962C8B-B14F-4D97-AF65-F5344CB8AC3E}">
        <p14:creationId xmlns:p14="http://schemas.microsoft.com/office/powerpoint/2010/main" val="440946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1840F-B53F-CFD1-01AA-36EB6CB58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Introducing Objects and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C6E57-DFF6-B74A-B5BF-E8A83E848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IE" sz="3200" dirty="0"/>
              <a:t>Objects are a way to bind together multiple data fields (attributes) and corresponding abilities (methods)</a:t>
            </a:r>
          </a:p>
          <a:p>
            <a:pPr lvl="2"/>
            <a:r>
              <a:rPr lang="en-IE" sz="2800" dirty="0"/>
              <a:t>There can be an infinite* number of objects of any type in your program</a:t>
            </a:r>
          </a:p>
          <a:p>
            <a:pPr lvl="2"/>
            <a:endParaRPr lang="en-IE" sz="2800" dirty="0"/>
          </a:p>
          <a:p>
            <a:pPr lvl="1"/>
            <a:r>
              <a:rPr lang="en-IE" sz="3200" dirty="0"/>
              <a:t>Classes are a </a:t>
            </a:r>
            <a:r>
              <a:rPr lang="en-IE" sz="3200" b="1" u="sng" dirty="0"/>
              <a:t>blueprint</a:t>
            </a:r>
            <a:r>
              <a:rPr lang="en-IE" sz="3200" dirty="0"/>
              <a:t> for how these objects are structured</a:t>
            </a:r>
          </a:p>
          <a:p>
            <a:pPr lvl="2"/>
            <a:r>
              <a:rPr lang="en-IE" sz="2800" dirty="0"/>
              <a:t>The class defines the attributes and methods for all objects of that type</a:t>
            </a:r>
          </a:p>
          <a:p>
            <a:pPr lvl="2"/>
            <a:r>
              <a:rPr lang="en-IE" sz="2800" dirty="0"/>
              <a:t>Each object can insert its own information into its copies of the attributes</a:t>
            </a:r>
          </a:p>
        </p:txBody>
      </p:sp>
    </p:spTree>
    <p:extLst>
      <p:ext uri="{BB962C8B-B14F-4D97-AF65-F5344CB8AC3E}">
        <p14:creationId xmlns:p14="http://schemas.microsoft.com/office/powerpoint/2010/main" val="2576973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0E5C5-8D13-7D3F-79CD-D75D63BB3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Let’s Build a 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1784D-4E33-59F0-43EF-60F072785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1"/>
            <a:r>
              <a:rPr lang="en-IE" sz="3200" dirty="0"/>
              <a:t>To define what a house looks like in our code, we would create a House class</a:t>
            </a:r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House class would state what kind of things are inside the house, e.g.:</a:t>
            </a:r>
          </a:p>
          <a:p>
            <a:pPr lvl="2"/>
            <a:r>
              <a:rPr lang="en-IE" sz="2800" dirty="0"/>
              <a:t>Window type</a:t>
            </a:r>
          </a:p>
          <a:p>
            <a:pPr lvl="2"/>
            <a:r>
              <a:rPr lang="en-IE" sz="2800" dirty="0"/>
              <a:t>Number of rooms</a:t>
            </a:r>
          </a:p>
          <a:p>
            <a:pPr lvl="2"/>
            <a:r>
              <a:rPr lang="en-IE" sz="2800" dirty="0"/>
              <a:t>Colour</a:t>
            </a:r>
          </a:p>
          <a:p>
            <a:pPr lvl="2"/>
            <a:r>
              <a:rPr lang="en-IE" sz="2800" dirty="0"/>
              <a:t>Etc</a:t>
            </a:r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To build a house, we would then make a House object </a:t>
            </a:r>
          </a:p>
          <a:p>
            <a:pPr lvl="2"/>
            <a:r>
              <a:rPr lang="en-IE" sz="2800" dirty="0"/>
              <a:t>Give a value to each of the things the class lists, e.g. bay for the window type, 10 for the number of rooms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751DEC-7507-487A-AF9E-0682AB16551D}"/>
              </a:ext>
            </a:extLst>
          </p:cNvPr>
          <p:cNvSpPr/>
          <p:nvPr/>
        </p:nvSpPr>
        <p:spPr>
          <a:xfrm>
            <a:off x="8315863" y="3370052"/>
            <a:ext cx="2202611" cy="10179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Blueprint for the overall shape of </a:t>
            </a:r>
            <a:r>
              <a:rPr lang="en-IE" b="1" u="sng" dirty="0"/>
              <a:t>any</a:t>
            </a:r>
            <a:r>
              <a:rPr lang="en-IE" dirty="0"/>
              <a:t> possible House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B29D94-3EE1-09FC-4682-A5FBDB64B024}"/>
              </a:ext>
            </a:extLst>
          </p:cNvPr>
          <p:cNvCxnSpPr>
            <a:cxnSpLocks/>
          </p:cNvCxnSpPr>
          <p:nvPr/>
        </p:nvCxnSpPr>
        <p:spPr>
          <a:xfrm flipH="1" flipV="1">
            <a:off x="4244196" y="3709358"/>
            <a:ext cx="4048664" cy="1782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857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AC098-E8E8-D2E8-6E97-42467BE58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Defining a House class: </a:t>
            </a:r>
            <a:br>
              <a:rPr lang="en-IE" dirty="0"/>
            </a:br>
            <a:r>
              <a:rPr lang="en-IE" dirty="0"/>
              <a:t>The Blueprint for all Houses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4C4AF-F04B-801A-C26F-AFD09016EE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258852"/>
          </a:xfrm>
        </p:spPr>
        <p:txBody>
          <a:bodyPr>
            <a:normAutofit fontScale="92500" lnSpcReduction="20000"/>
          </a:bodyPr>
          <a:lstStyle/>
          <a:p>
            <a:pPr lvl="1"/>
            <a:r>
              <a:rPr lang="en-IE" sz="3200" dirty="0"/>
              <a:t>Defining the House class gives us a blueprint for all House objects in our code</a:t>
            </a:r>
          </a:p>
          <a:p>
            <a:pPr lvl="1"/>
            <a:r>
              <a:rPr lang="en-IE" sz="3200" dirty="0"/>
              <a:t>We define a class using the </a:t>
            </a:r>
            <a:r>
              <a:rPr lang="en-IE" sz="32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IE" sz="3200" dirty="0"/>
              <a:t> keyword:</a:t>
            </a:r>
          </a:p>
          <a:p>
            <a:pPr lvl="1"/>
            <a:endParaRPr lang="en-IE" sz="3200" dirty="0"/>
          </a:p>
          <a:p>
            <a:pPr lvl="2"/>
            <a:endParaRPr lang="en-IE" sz="2800" dirty="0"/>
          </a:p>
          <a:p>
            <a:pPr lvl="1"/>
            <a:endParaRPr lang="en-IE" sz="3200" dirty="0"/>
          </a:p>
          <a:p>
            <a:pPr lvl="1"/>
            <a:endParaRPr lang="en-IE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lvl="1"/>
            <a:r>
              <a:rPr lang="en-IE" sz="3200" b="1" dirty="0">
                <a:solidFill>
                  <a:srgbClr val="FF0000"/>
                </a:solidFill>
                <a:latin typeface="Consolas" panose="020B0609020204030204" pitchFamily="49" charset="0"/>
              </a:rPr>
              <a:t>class</a:t>
            </a:r>
            <a:r>
              <a:rPr lang="en-IE" sz="3200" dirty="0"/>
              <a:t> marks the block of code as a class</a:t>
            </a:r>
          </a:p>
          <a:p>
            <a:pPr lvl="1"/>
            <a:r>
              <a:rPr lang="en-IE" sz="2800" dirty="0"/>
              <a:t>The code within the class defines:</a:t>
            </a:r>
          </a:p>
          <a:p>
            <a:pPr lvl="2"/>
            <a:r>
              <a:rPr lang="en-IE" sz="2400" dirty="0"/>
              <a:t>What is </a:t>
            </a:r>
            <a:r>
              <a:rPr lang="en-IE" sz="2400" b="1" dirty="0"/>
              <a:t>stored</a:t>
            </a:r>
            <a:r>
              <a:rPr lang="en-IE" sz="2400" dirty="0"/>
              <a:t> by that class </a:t>
            </a:r>
          </a:p>
          <a:p>
            <a:pPr lvl="2"/>
            <a:r>
              <a:rPr lang="en-IE" sz="2400" dirty="0"/>
              <a:t>What that class </a:t>
            </a:r>
            <a:r>
              <a:rPr lang="en-IE" sz="2400" b="1" dirty="0"/>
              <a:t>can do</a:t>
            </a:r>
          </a:p>
          <a:p>
            <a:pPr lvl="1"/>
            <a:endParaRPr lang="en-IE" sz="3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D6FFE2-786F-83A4-6B88-0B648450B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999" y="2989613"/>
            <a:ext cx="4895530" cy="132447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C978F37-5D9D-2668-3569-CECCFCEF83EB}"/>
              </a:ext>
            </a:extLst>
          </p:cNvPr>
          <p:cNvGrpSpPr/>
          <p:nvPr/>
        </p:nvGrpSpPr>
        <p:grpSpPr>
          <a:xfrm>
            <a:off x="6406551" y="2891290"/>
            <a:ext cx="4400947" cy="720306"/>
            <a:chOff x="6395049" y="2793520"/>
            <a:chExt cx="4400947" cy="72030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5EBC4AE-A011-A042-5170-DA27368180DB}"/>
                </a:ext>
              </a:extLst>
            </p:cNvPr>
            <p:cNvSpPr/>
            <p:nvPr/>
          </p:nvSpPr>
          <p:spPr>
            <a:xfrm>
              <a:off x="9167004" y="2793520"/>
              <a:ext cx="1628992" cy="72030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/>
                <a:t>Signature of the class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EA0DAA1-D620-0D3F-52F7-FC8CDBC67FD3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395049" y="3153673"/>
              <a:ext cx="27719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2371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D572-FAF4-E380-AEBF-25B3B6EA2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 Note on Class Names and </a:t>
            </a:r>
            <a:br>
              <a:rPr lang="en-IE" dirty="0"/>
            </a:br>
            <a:r>
              <a:rPr lang="en-IE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16A22-6780-34C7-3B1B-E5F9414AA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1"/>
            <a:r>
              <a:rPr lang="en-IE" sz="3200" dirty="0"/>
              <a:t>Class names should be </a:t>
            </a:r>
            <a:r>
              <a:rPr lang="en-IE" sz="3200" dirty="0">
                <a:solidFill>
                  <a:srgbClr val="FF0000"/>
                </a:solidFill>
              </a:rPr>
              <a:t>nouns</a:t>
            </a:r>
          </a:p>
          <a:p>
            <a:pPr lvl="2"/>
            <a:r>
              <a:rPr lang="en-IE" sz="2800" dirty="0"/>
              <a:t>The name of the entity being modelled in code</a:t>
            </a:r>
          </a:p>
          <a:p>
            <a:pPr lvl="2"/>
            <a:r>
              <a:rPr lang="en-IE" sz="2800" dirty="0"/>
              <a:t>Usually singular, unless you are storing data on multiple entities in one object</a:t>
            </a:r>
          </a:p>
          <a:p>
            <a:pPr lvl="2"/>
            <a:endParaRPr lang="en-IE" sz="2800" dirty="0"/>
          </a:p>
          <a:p>
            <a:pPr lvl="1"/>
            <a:r>
              <a:rPr lang="en-IE" sz="3200" dirty="0"/>
              <a:t>Classes do not follow the same naming conventions we’ve used up to now!</a:t>
            </a:r>
          </a:p>
          <a:p>
            <a:pPr lvl="2"/>
            <a:r>
              <a:rPr lang="en-IE" sz="2800" dirty="0"/>
              <a:t>We always </a:t>
            </a:r>
            <a:r>
              <a:rPr lang="en-IE" sz="2800" dirty="0">
                <a:solidFill>
                  <a:srgbClr val="FF0000"/>
                </a:solidFill>
              </a:rPr>
              <a:t>start</a:t>
            </a:r>
            <a:r>
              <a:rPr lang="en-IE" sz="2800" dirty="0"/>
              <a:t> a class name </a:t>
            </a:r>
            <a:r>
              <a:rPr lang="en-IE" sz="2800" dirty="0">
                <a:solidFill>
                  <a:srgbClr val="FF0000"/>
                </a:solidFill>
              </a:rPr>
              <a:t>with an uppercase letter</a:t>
            </a:r>
          </a:p>
          <a:p>
            <a:pPr lvl="2"/>
            <a:r>
              <a:rPr lang="en-IE" sz="2800" dirty="0"/>
              <a:t>We </a:t>
            </a:r>
            <a:r>
              <a:rPr lang="en-IE" sz="2800" dirty="0">
                <a:solidFill>
                  <a:srgbClr val="FF0000"/>
                </a:solidFill>
              </a:rPr>
              <a:t>do not use _ </a:t>
            </a:r>
            <a:r>
              <a:rPr lang="en-IE" sz="2800" dirty="0"/>
              <a:t>in class names</a:t>
            </a:r>
          </a:p>
          <a:p>
            <a:pPr lvl="2"/>
            <a:r>
              <a:rPr lang="en-IE" sz="2800" dirty="0"/>
              <a:t>Where there is more than one word in the name of the class, we use </a:t>
            </a:r>
            <a:r>
              <a:rPr lang="en-IE" sz="2800" dirty="0">
                <a:solidFill>
                  <a:srgbClr val="FF0000"/>
                </a:solidFill>
              </a:rPr>
              <a:t>cap case</a:t>
            </a:r>
            <a:r>
              <a:rPr lang="en-IE" sz="2800" dirty="0"/>
              <a:t>:</a:t>
            </a:r>
          </a:p>
          <a:p>
            <a:pPr lvl="3"/>
            <a:r>
              <a:rPr lang="en-IE" sz="2400" dirty="0"/>
              <a:t>The class name is still all one word (no spaces allowed)</a:t>
            </a:r>
          </a:p>
          <a:p>
            <a:pPr lvl="3"/>
            <a:r>
              <a:rPr lang="en-IE" sz="2400" dirty="0"/>
              <a:t>There is an uppercase letter at the start of each new word within the name</a:t>
            </a:r>
          </a:p>
        </p:txBody>
      </p:sp>
    </p:spTree>
    <p:extLst>
      <p:ext uri="{BB962C8B-B14F-4D97-AF65-F5344CB8AC3E}">
        <p14:creationId xmlns:p14="http://schemas.microsoft.com/office/powerpoint/2010/main" val="412110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9AC8E-1780-E81C-5DAE-0CB6B3CA5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Exercise: Good vs Bad Class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FF555-F5B3-C59C-D9F8-641566331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en-IE" sz="3200" dirty="0"/>
              <a:t>house</a:t>
            </a:r>
          </a:p>
          <a:p>
            <a:pPr lvl="1"/>
            <a:r>
              <a:rPr lang="en-IE" sz="3200" dirty="0"/>
              <a:t>Address</a:t>
            </a:r>
          </a:p>
          <a:p>
            <a:pPr lvl="1"/>
            <a:r>
              <a:rPr lang="en-IE" sz="3200" dirty="0" err="1"/>
              <a:t>Customer_Data</a:t>
            </a:r>
            <a:endParaRPr lang="en-IE" sz="3200" dirty="0"/>
          </a:p>
          <a:p>
            <a:pPr lvl="1"/>
            <a:r>
              <a:rPr lang="en-IE" sz="3200" dirty="0"/>
              <a:t>Houses</a:t>
            </a:r>
          </a:p>
          <a:p>
            <a:pPr lvl="1"/>
            <a:r>
              <a:rPr lang="en-IE" sz="3200" dirty="0"/>
              <a:t>Car</a:t>
            </a:r>
          </a:p>
          <a:p>
            <a:pPr lvl="1"/>
            <a:r>
              <a:rPr lang="en-IE" sz="3200" dirty="0"/>
              <a:t>furniture</a:t>
            </a:r>
          </a:p>
          <a:p>
            <a:pPr lvl="1"/>
            <a:r>
              <a:rPr lang="en-IE" sz="3200" dirty="0" err="1"/>
              <a:t>Buildingblock</a:t>
            </a:r>
            <a:endParaRPr lang="en-IE" sz="3200" dirty="0"/>
          </a:p>
          <a:p>
            <a:pPr lvl="1"/>
            <a:r>
              <a:rPr lang="en-IE" sz="3200" dirty="0"/>
              <a:t>Orders</a:t>
            </a:r>
          </a:p>
          <a:p>
            <a:pPr lvl="1"/>
            <a:r>
              <a:rPr lang="en-IE" sz="3200" dirty="0"/>
              <a:t>Loaning</a:t>
            </a:r>
          </a:p>
          <a:p>
            <a:pPr lvl="1"/>
            <a:r>
              <a:rPr lang="en-IE" sz="3200" dirty="0" err="1"/>
              <a:t>motorFactory</a:t>
            </a:r>
            <a:endParaRPr lang="en-IE" sz="3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43BF1E-AB29-A0F5-6FF1-5DBA48E9FA00}"/>
              </a:ext>
            </a:extLst>
          </p:cNvPr>
          <p:cNvSpPr/>
          <p:nvPr/>
        </p:nvSpPr>
        <p:spPr>
          <a:xfrm>
            <a:off x="7125420" y="2643996"/>
            <a:ext cx="3099758" cy="1570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Which of these are good options for names?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Which are unsuitable?</a:t>
            </a:r>
          </a:p>
        </p:txBody>
      </p:sp>
    </p:spTree>
    <p:extLst>
      <p:ext uri="{BB962C8B-B14F-4D97-AF65-F5344CB8AC3E}">
        <p14:creationId xmlns:p14="http://schemas.microsoft.com/office/powerpoint/2010/main" val="4089312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9AC8E-1780-E81C-5DAE-0CB6B3CA5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Good Class Names!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FF555-F5B3-C59C-D9F8-641566331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en-IE" sz="3200" dirty="0"/>
              <a:t>house</a:t>
            </a:r>
          </a:p>
          <a:p>
            <a:pPr lvl="1"/>
            <a:r>
              <a:rPr lang="en-IE" sz="3200" dirty="0">
                <a:solidFill>
                  <a:srgbClr val="00B050"/>
                </a:solidFill>
              </a:rPr>
              <a:t>Address</a:t>
            </a:r>
          </a:p>
          <a:p>
            <a:pPr lvl="1"/>
            <a:r>
              <a:rPr lang="en-IE" sz="3200" dirty="0" err="1"/>
              <a:t>Customer_Data</a:t>
            </a:r>
            <a:endParaRPr lang="en-IE" sz="3200" dirty="0"/>
          </a:p>
          <a:p>
            <a:pPr lvl="1"/>
            <a:r>
              <a:rPr lang="en-IE" sz="3200" dirty="0"/>
              <a:t>Houses</a:t>
            </a:r>
          </a:p>
          <a:p>
            <a:pPr lvl="1"/>
            <a:r>
              <a:rPr lang="en-IE" sz="3200" dirty="0">
                <a:solidFill>
                  <a:srgbClr val="00B050"/>
                </a:solidFill>
              </a:rPr>
              <a:t>Car</a:t>
            </a:r>
          </a:p>
          <a:p>
            <a:pPr lvl="1"/>
            <a:r>
              <a:rPr lang="en-IE" sz="3200" dirty="0"/>
              <a:t>furniture</a:t>
            </a:r>
          </a:p>
          <a:p>
            <a:pPr lvl="1"/>
            <a:r>
              <a:rPr lang="en-IE" sz="3200" dirty="0" err="1"/>
              <a:t>Buildingblock</a:t>
            </a:r>
            <a:endParaRPr lang="en-IE" sz="3200" dirty="0"/>
          </a:p>
          <a:p>
            <a:pPr lvl="1"/>
            <a:r>
              <a:rPr lang="en-IE" sz="3200" dirty="0"/>
              <a:t>Orders</a:t>
            </a:r>
          </a:p>
          <a:p>
            <a:pPr lvl="1"/>
            <a:r>
              <a:rPr lang="en-IE" sz="3200" dirty="0"/>
              <a:t>Loaning</a:t>
            </a:r>
          </a:p>
          <a:p>
            <a:pPr lvl="1"/>
            <a:r>
              <a:rPr lang="en-IE" sz="3200" dirty="0" err="1"/>
              <a:t>motorFactory</a:t>
            </a:r>
            <a:endParaRPr lang="en-IE" sz="32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F417519-D0A7-B43A-216D-DC18A59F2A0D}"/>
              </a:ext>
            </a:extLst>
          </p:cNvPr>
          <p:cNvGrpSpPr/>
          <p:nvPr/>
        </p:nvGrpSpPr>
        <p:grpSpPr>
          <a:xfrm>
            <a:off x="2260122" y="2367950"/>
            <a:ext cx="8465388" cy="1260895"/>
            <a:chOff x="2260122" y="2367950"/>
            <a:chExt cx="8465388" cy="1260895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843BF1E-AB29-A0F5-6FF1-5DBA48E9FA00}"/>
                </a:ext>
              </a:extLst>
            </p:cNvPr>
            <p:cNvSpPr/>
            <p:nvPr/>
          </p:nvSpPr>
          <p:spPr>
            <a:xfrm>
              <a:off x="7274943" y="2367950"/>
              <a:ext cx="3450567" cy="126089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000" dirty="0"/>
                <a:t>These are very clear class names and are in line with Java’s naming conventions</a:t>
              </a:r>
            </a:p>
          </p:txBody>
        </p:sp>
        <p:cxnSp>
          <p:nvCxnSpPr>
            <p:cNvPr id="6" name="Connector: Elbow 5">
              <a:extLst>
                <a:ext uri="{FF2B5EF4-FFF2-40B4-BE49-F238E27FC236}">
                  <a16:creationId xmlns:a16="http://schemas.microsoft.com/office/drawing/2014/main" id="{D95FB11E-3308-F3FF-5FA3-03838626378D}"/>
                </a:ext>
              </a:extLst>
            </p:cNvPr>
            <p:cNvCxnSpPr>
              <a:stCxn id="4" idx="1"/>
            </p:cNvCxnSpPr>
            <p:nvPr/>
          </p:nvCxnSpPr>
          <p:spPr>
            <a:xfrm rot="10800000">
              <a:off x="2817963" y="2409646"/>
              <a:ext cx="4456981" cy="588753"/>
            </a:xfrm>
            <a:prstGeom prst="bentConnector3">
              <a:avLst>
                <a:gd name="adj1" fmla="val 30774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76A35E0B-2F0E-0A6A-38D0-B54539FDB40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0122" y="2998397"/>
              <a:ext cx="5032075" cy="630447"/>
            </a:xfrm>
            <a:prstGeom prst="bentConnector3">
              <a:avLst>
                <a:gd name="adj1" fmla="val 276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915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9AC8E-1780-E81C-5DAE-0CB6B3CA5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Bad Class Names: Verbs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FF555-F5B3-C59C-D9F8-641566331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en-IE" sz="3200" dirty="0"/>
              <a:t>house</a:t>
            </a:r>
          </a:p>
          <a:p>
            <a:pPr lvl="1"/>
            <a:r>
              <a:rPr lang="en-IE" sz="3200" dirty="0"/>
              <a:t>Address</a:t>
            </a:r>
          </a:p>
          <a:p>
            <a:pPr lvl="1"/>
            <a:r>
              <a:rPr lang="en-IE" sz="3200" dirty="0" err="1"/>
              <a:t>Customer_Data</a:t>
            </a:r>
            <a:endParaRPr lang="en-IE" sz="3200" dirty="0"/>
          </a:p>
          <a:p>
            <a:pPr lvl="1"/>
            <a:r>
              <a:rPr lang="en-IE" sz="3200" dirty="0"/>
              <a:t>Houses</a:t>
            </a:r>
          </a:p>
          <a:p>
            <a:pPr lvl="1"/>
            <a:r>
              <a:rPr lang="en-IE" sz="3200" dirty="0"/>
              <a:t>Car</a:t>
            </a:r>
          </a:p>
          <a:p>
            <a:pPr lvl="1"/>
            <a:r>
              <a:rPr lang="en-IE" sz="3200" dirty="0"/>
              <a:t>furniture</a:t>
            </a:r>
          </a:p>
          <a:p>
            <a:pPr lvl="1"/>
            <a:r>
              <a:rPr lang="en-IE" sz="3200" dirty="0" err="1"/>
              <a:t>Buildingblock</a:t>
            </a:r>
            <a:endParaRPr lang="en-IE" sz="3200" dirty="0"/>
          </a:p>
          <a:p>
            <a:pPr lvl="1"/>
            <a:r>
              <a:rPr lang="en-IE" sz="3200" dirty="0"/>
              <a:t>Orders</a:t>
            </a:r>
          </a:p>
          <a:p>
            <a:pPr lvl="1"/>
            <a:r>
              <a:rPr lang="en-IE" sz="3200" dirty="0">
                <a:solidFill>
                  <a:srgbClr val="FF0000"/>
                </a:solidFill>
              </a:rPr>
              <a:t>Loaning</a:t>
            </a:r>
          </a:p>
          <a:p>
            <a:pPr lvl="1"/>
            <a:r>
              <a:rPr lang="en-IE" sz="3200" dirty="0" err="1"/>
              <a:t>motorFactory</a:t>
            </a:r>
            <a:endParaRPr lang="en-IE" sz="3200" dirty="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1FA54E8E-9BB3-7D4D-8E99-395D5875B790}"/>
              </a:ext>
            </a:extLst>
          </p:cNvPr>
          <p:cNvSpPr/>
          <p:nvPr/>
        </p:nvSpPr>
        <p:spPr>
          <a:xfrm>
            <a:off x="6688275" y="3137011"/>
            <a:ext cx="3194649" cy="583978"/>
          </a:xfrm>
          <a:prstGeom prst="roundRect">
            <a:avLst/>
          </a:prstGeom>
          <a:solidFill>
            <a:srgbClr val="FFC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Name is a verb, not a noun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10D82F4-FBA0-9881-AA79-848C6E2A32FF}"/>
              </a:ext>
            </a:extLst>
          </p:cNvPr>
          <p:cNvCxnSpPr>
            <a:cxnSpLocks/>
            <a:stCxn id="41" idx="1"/>
          </p:cNvCxnSpPr>
          <p:nvPr/>
        </p:nvCxnSpPr>
        <p:spPr>
          <a:xfrm rot="10800000" flipV="1">
            <a:off x="2886975" y="3429000"/>
            <a:ext cx="3801301" cy="1787106"/>
          </a:xfrm>
          <a:prstGeom prst="bentConnector3">
            <a:avLst>
              <a:gd name="adj1" fmla="val 12329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5577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4B6CF-2E95-0626-B885-6359A7CEF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E5707-1CEC-3B9B-2F08-BD0579B9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Bad Class Names: Underscores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79181-716E-7834-94AB-17633074D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en-IE" sz="3200" dirty="0"/>
              <a:t>house</a:t>
            </a:r>
          </a:p>
          <a:p>
            <a:pPr lvl="1"/>
            <a:r>
              <a:rPr lang="en-IE" sz="3200" dirty="0"/>
              <a:t>Address</a:t>
            </a:r>
          </a:p>
          <a:p>
            <a:pPr lvl="1"/>
            <a:r>
              <a:rPr lang="en-IE" sz="3200" dirty="0" err="1">
                <a:solidFill>
                  <a:srgbClr val="FF0000"/>
                </a:solidFill>
              </a:rPr>
              <a:t>Customer_Data</a:t>
            </a:r>
            <a:endParaRPr lang="en-IE" sz="3200" dirty="0">
              <a:solidFill>
                <a:srgbClr val="FF0000"/>
              </a:solidFill>
            </a:endParaRPr>
          </a:p>
          <a:p>
            <a:pPr lvl="1"/>
            <a:r>
              <a:rPr lang="en-IE" sz="3200" dirty="0"/>
              <a:t>Houses</a:t>
            </a:r>
          </a:p>
          <a:p>
            <a:pPr lvl="1"/>
            <a:r>
              <a:rPr lang="en-IE" sz="3200" dirty="0"/>
              <a:t>Car</a:t>
            </a:r>
          </a:p>
          <a:p>
            <a:pPr lvl="1"/>
            <a:r>
              <a:rPr lang="en-IE" sz="3200" dirty="0"/>
              <a:t>furniture</a:t>
            </a:r>
          </a:p>
          <a:p>
            <a:pPr lvl="1"/>
            <a:r>
              <a:rPr lang="en-IE" sz="3200" dirty="0" err="1"/>
              <a:t>Buildingblock</a:t>
            </a:r>
            <a:endParaRPr lang="en-IE" sz="3200" dirty="0"/>
          </a:p>
          <a:p>
            <a:pPr lvl="1"/>
            <a:r>
              <a:rPr lang="en-IE" sz="3200" dirty="0">
                <a:solidFill>
                  <a:schemeClr val="tx1"/>
                </a:solidFill>
              </a:rPr>
              <a:t>Orders</a:t>
            </a:r>
          </a:p>
          <a:p>
            <a:pPr lvl="1"/>
            <a:r>
              <a:rPr lang="en-IE" sz="3200" strike="sngStrike" dirty="0"/>
              <a:t>Loaning</a:t>
            </a:r>
          </a:p>
          <a:p>
            <a:pPr lvl="1"/>
            <a:r>
              <a:rPr lang="en-IE" sz="3200" dirty="0" err="1"/>
              <a:t>motorFactory</a:t>
            </a:r>
            <a:endParaRPr lang="en-IE" sz="3200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667884-13FD-76B5-7B9F-5339DCD5FBE9}"/>
              </a:ext>
            </a:extLst>
          </p:cNvPr>
          <p:cNvSpPr/>
          <p:nvPr/>
        </p:nvSpPr>
        <p:spPr>
          <a:xfrm>
            <a:off x="6688275" y="4230933"/>
            <a:ext cx="3194649" cy="583978"/>
          </a:xfrm>
          <a:prstGeom prst="round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Name uses an underscore to separate component words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D3D499A4-B1E9-3625-589E-D4914EE9C28C}"/>
              </a:ext>
            </a:extLst>
          </p:cNvPr>
          <p:cNvCxnSpPr>
            <a:cxnSpLocks/>
            <a:stCxn id="37" idx="1"/>
          </p:cNvCxnSpPr>
          <p:nvPr/>
        </p:nvCxnSpPr>
        <p:spPr>
          <a:xfrm rot="10800000">
            <a:off x="4065917" y="2872596"/>
            <a:ext cx="2622358" cy="1650327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251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4932-B771-5B9A-918D-3B00201E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62388-7FF3-B56F-52EC-82E9209D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Bad Class Names: Not </a:t>
            </a:r>
            <a:r>
              <a:rPr lang="en-IE" dirty="0" err="1"/>
              <a:t>CapWords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660F4-CE5B-8582-D9E4-39189B38E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en-IE" sz="3200" dirty="0">
                <a:solidFill>
                  <a:srgbClr val="FF0000"/>
                </a:solidFill>
              </a:rPr>
              <a:t>house</a:t>
            </a:r>
          </a:p>
          <a:p>
            <a:pPr lvl="1"/>
            <a:r>
              <a:rPr lang="en-IE" sz="3200" dirty="0"/>
              <a:t>Address</a:t>
            </a:r>
          </a:p>
          <a:p>
            <a:pPr lvl="1"/>
            <a:r>
              <a:rPr lang="en-IE" sz="3200" strike="sngStrike" dirty="0" err="1"/>
              <a:t>Customer_Data</a:t>
            </a:r>
            <a:endParaRPr lang="en-IE" sz="3200" strike="sngStrike" dirty="0"/>
          </a:p>
          <a:p>
            <a:pPr lvl="1"/>
            <a:r>
              <a:rPr lang="en-IE" sz="3200" dirty="0"/>
              <a:t>Houses</a:t>
            </a:r>
          </a:p>
          <a:p>
            <a:pPr lvl="1"/>
            <a:r>
              <a:rPr lang="en-IE" sz="3200" dirty="0"/>
              <a:t>Car</a:t>
            </a:r>
          </a:p>
          <a:p>
            <a:pPr lvl="1"/>
            <a:r>
              <a:rPr lang="en-IE" sz="3200" dirty="0">
                <a:solidFill>
                  <a:srgbClr val="FF0000"/>
                </a:solidFill>
              </a:rPr>
              <a:t>furniture</a:t>
            </a:r>
          </a:p>
          <a:p>
            <a:pPr lvl="1"/>
            <a:r>
              <a:rPr lang="en-IE" sz="3200" dirty="0" err="1">
                <a:solidFill>
                  <a:srgbClr val="FF0000"/>
                </a:solidFill>
              </a:rPr>
              <a:t>Buildingblock</a:t>
            </a:r>
            <a:endParaRPr lang="en-IE" sz="3200" dirty="0">
              <a:solidFill>
                <a:srgbClr val="FF0000"/>
              </a:solidFill>
            </a:endParaRPr>
          </a:p>
          <a:p>
            <a:pPr lvl="1"/>
            <a:r>
              <a:rPr lang="en-IE" sz="3200" dirty="0">
                <a:solidFill>
                  <a:schemeClr val="tx1"/>
                </a:solidFill>
              </a:rPr>
              <a:t>Orders</a:t>
            </a:r>
          </a:p>
          <a:p>
            <a:pPr lvl="1"/>
            <a:r>
              <a:rPr lang="en-IE" sz="3200" strike="sngStrike" dirty="0"/>
              <a:t>Loaning</a:t>
            </a:r>
          </a:p>
          <a:p>
            <a:pPr lvl="1"/>
            <a:r>
              <a:rPr lang="en-IE" sz="3200" dirty="0" err="1">
                <a:solidFill>
                  <a:srgbClr val="FF0000"/>
                </a:solidFill>
              </a:rPr>
              <a:t>motorFactory</a:t>
            </a:r>
            <a:endParaRPr lang="en-IE" sz="3200" dirty="0">
              <a:solidFill>
                <a:srgbClr val="FF0000"/>
              </a:solidFill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74CD485-26A5-AE14-CB62-AFC5C0DE549C}"/>
              </a:ext>
            </a:extLst>
          </p:cNvPr>
          <p:cNvGrpSpPr/>
          <p:nvPr/>
        </p:nvGrpSpPr>
        <p:grpSpPr>
          <a:xfrm>
            <a:off x="2541917" y="2030083"/>
            <a:ext cx="7341007" cy="3839011"/>
            <a:chOff x="2541917" y="2030083"/>
            <a:chExt cx="7341007" cy="3839011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45612CE-BCA9-6252-B387-3AACB0477FC0}"/>
                </a:ext>
              </a:extLst>
            </p:cNvPr>
            <p:cNvGrpSpPr/>
            <p:nvPr/>
          </p:nvGrpSpPr>
          <p:grpSpPr>
            <a:xfrm>
              <a:off x="2541917" y="2030083"/>
              <a:ext cx="7341007" cy="3839011"/>
              <a:chOff x="2541917" y="2030083"/>
              <a:chExt cx="7341007" cy="3839011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BE590F8-9F0D-DF27-45FA-C0D3474DF282}"/>
                  </a:ext>
                </a:extLst>
              </p:cNvPr>
              <p:cNvSpPr/>
              <p:nvPr/>
            </p:nvSpPr>
            <p:spPr>
              <a:xfrm>
                <a:off x="6688275" y="5285116"/>
                <a:ext cx="3194649" cy="58397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2000" dirty="0"/>
                  <a:t>Name/Internal word starts with a lowercase letter</a:t>
                </a:r>
              </a:p>
            </p:txBody>
          </p:sp>
          <p:cxnSp>
            <p:nvCxnSpPr>
              <p:cNvPr id="10" name="Connector: Elbow 9">
                <a:extLst>
                  <a:ext uri="{FF2B5EF4-FFF2-40B4-BE49-F238E27FC236}">
                    <a16:creationId xmlns:a16="http://schemas.microsoft.com/office/drawing/2014/main" id="{386564CF-03DC-9D70-20BF-2DF058E2A439}"/>
                  </a:ext>
                </a:extLst>
              </p:cNvPr>
              <p:cNvCxnSpPr>
                <a:cxnSpLocks/>
                <a:stCxn id="6" idx="1"/>
              </p:cNvCxnSpPr>
              <p:nvPr/>
            </p:nvCxnSpPr>
            <p:spPr>
              <a:xfrm rot="10800000">
                <a:off x="2541917" y="2030083"/>
                <a:ext cx="4146358" cy="3547022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Elbow 11">
                <a:extLst>
                  <a:ext uri="{FF2B5EF4-FFF2-40B4-BE49-F238E27FC236}">
                    <a16:creationId xmlns:a16="http://schemas.microsoft.com/office/drawing/2014/main" id="{A2BDBF27-D682-ED93-F467-AD1F71C4BD93}"/>
                  </a:ext>
                </a:extLst>
              </p:cNvPr>
              <p:cNvCxnSpPr>
                <a:cxnSpLocks/>
                <a:stCxn id="6" idx="1"/>
              </p:cNvCxnSpPr>
              <p:nvPr/>
            </p:nvCxnSpPr>
            <p:spPr>
              <a:xfrm rot="10800000">
                <a:off x="2973239" y="3985405"/>
                <a:ext cx="3715037" cy="1591701"/>
              </a:xfrm>
              <a:prstGeom prst="bentConnector3">
                <a:avLst>
                  <a:gd name="adj1" fmla="val 5572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F42AE1AB-BC90-4D03-2194-3010A2E82CC8}"/>
                  </a:ext>
                </a:extLst>
              </p:cNvPr>
              <p:cNvCxnSpPr>
                <a:cxnSpLocks/>
                <a:stCxn id="6" idx="1"/>
              </p:cNvCxnSpPr>
              <p:nvPr/>
            </p:nvCxnSpPr>
            <p:spPr>
              <a:xfrm rot="10800000" flipV="1">
                <a:off x="3709359" y="5577104"/>
                <a:ext cx="2978917" cy="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3F418C6-B82E-B3FB-6E07-17AB746BCBC2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rot="10800000">
              <a:off x="3709357" y="4422477"/>
              <a:ext cx="2978918" cy="1154628"/>
            </a:xfrm>
            <a:prstGeom prst="bentConnector3">
              <a:avLst>
                <a:gd name="adj1" fmla="val 69305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165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9AC8E-1780-E81C-5DAE-0CB6B3CA5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i="1" dirty="0"/>
              <a:t>Troublesome</a:t>
            </a:r>
            <a:r>
              <a:rPr lang="en-IE" dirty="0"/>
              <a:t> Class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FF555-F5B3-C59C-D9F8-641566331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en-IE" sz="3200" dirty="0"/>
              <a:t>house</a:t>
            </a:r>
          </a:p>
          <a:p>
            <a:pPr lvl="1"/>
            <a:r>
              <a:rPr lang="en-IE" sz="3200" dirty="0"/>
              <a:t>Address</a:t>
            </a:r>
          </a:p>
          <a:p>
            <a:pPr lvl="1"/>
            <a:r>
              <a:rPr lang="en-IE" sz="3200" dirty="0" err="1"/>
              <a:t>Customer_Data</a:t>
            </a:r>
            <a:endParaRPr lang="en-IE" sz="3200" dirty="0"/>
          </a:p>
          <a:p>
            <a:pPr lvl="1"/>
            <a:r>
              <a:rPr lang="en-IE" sz="3200" dirty="0">
                <a:solidFill>
                  <a:srgbClr val="FF0000"/>
                </a:solidFill>
              </a:rPr>
              <a:t>Houses</a:t>
            </a:r>
          </a:p>
          <a:p>
            <a:pPr lvl="1"/>
            <a:r>
              <a:rPr lang="en-IE" sz="3200" dirty="0"/>
              <a:t>Car</a:t>
            </a:r>
          </a:p>
          <a:p>
            <a:pPr lvl="1"/>
            <a:r>
              <a:rPr lang="en-IE" sz="3200" dirty="0"/>
              <a:t>furniture</a:t>
            </a:r>
          </a:p>
          <a:p>
            <a:pPr lvl="1"/>
            <a:r>
              <a:rPr lang="en-IE" sz="3200" dirty="0" err="1"/>
              <a:t>Buildingblock</a:t>
            </a:r>
            <a:endParaRPr lang="en-IE" sz="3200" dirty="0"/>
          </a:p>
          <a:p>
            <a:pPr lvl="1"/>
            <a:r>
              <a:rPr lang="en-IE" sz="3200" dirty="0">
                <a:solidFill>
                  <a:srgbClr val="FF0000"/>
                </a:solidFill>
              </a:rPr>
              <a:t>Orders</a:t>
            </a:r>
          </a:p>
          <a:p>
            <a:pPr lvl="1"/>
            <a:r>
              <a:rPr lang="en-IE" sz="3200" dirty="0"/>
              <a:t>Loaning</a:t>
            </a:r>
          </a:p>
          <a:p>
            <a:pPr lvl="1"/>
            <a:r>
              <a:rPr lang="en-IE" sz="3200" dirty="0" err="1"/>
              <a:t>motorFactory</a:t>
            </a:r>
            <a:endParaRPr lang="en-IE" sz="3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43BF1E-AB29-A0F5-6FF1-5DBA48E9FA00}"/>
              </a:ext>
            </a:extLst>
          </p:cNvPr>
          <p:cNvSpPr/>
          <p:nvPr/>
        </p:nvSpPr>
        <p:spPr>
          <a:xfrm>
            <a:off x="6014336" y="3007744"/>
            <a:ext cx="5141344" cy="262243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>
                <a:solidFill>
                  <a:srgbClr val="FF0000"/>
                </a:solidFill>
              </a:rPr>
              <a:t>These end in “s”</a:t>
            </a:r>
          </a:p>
          <a:p>
            <a:r>
              <a:rPr lang="en-IE" sz="2000" dirty="0">
                <a:solidFill>
                  <a:schemeClr val="tx1"/>
                </a:solidFill>
              </a:rPr>
              <a:t>This is only ok if there is somehow a way for a single instance of this to store data on multiple of this type.</a:t>
            </a:r>
          </a:p>
          <a:p>
            <a:pPr algn="ctr"/>
            <a:endParaRPr lang="en-IE" sz="2000" dirty="0">
              <a:solidFill>
                <a:schemeClr val="tx1"/>
              </a:solidFill>
            </a:endParaRPr>
          </a:p>
          <a:p>
            <a:r>
              <a:rPr lang="en-IE" sz="2000" dirty="0">
                <a:solidFill>
                  <a:schemeClr val="tx1"/>
                </a:solidFill>
              </a:rPr>
              <a:t>Usually this is a variable name, not a class name. It would be used for a collection (e.g. list, dictionary, tuple) of that type of entity</a:t>
            </a:r>
          </a:p>
        </p:txBody>
      </p:sp>
    </p:spTree>
    <p:extLst>
      <p:ext uri="{BB962C8B-B14F-4D97-AF65-F5344CB8AC3E}">
        <p14:creationId xmlns:p14="http://schemas.microsoft.com/office/powerpoint/2010/main" val="410014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7AA3-E5E2-E361-B14F-1789181B6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Inserting Attributes: </a:t>
            </a:r>
            <a:br>
              <a:rPr lang="en-IE" dirty="0"/>
            </a:br>
            <a:r>
              <a:rPr lang="en-IE" dirty="0"/>
              <a:t>Adding Detail to the 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60BC5-8BF5-FD54-7B4E-90EC60AB8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5"/>
            <a:ext cx="10058400" cy="2530733"/>
          </a:xfrm>
        </p:spPr>
        <p:txBody>
          <a:bodyPr>
            <a:normAutofit fontScale="85000" lnSpcReduction="20000"/>
          </a:bodyPr>
          <a:lstStyle/>
          <a:p>
            <a:pPr lvl="1"/>
            <a:r>
              <a:rPr lang="en-IE" sz="3200" dirty="0"/>
              <a:t>We can define what information is included about a House (its </a:t>
            </a:r>
            <a:r>
              <a:rPr lang="en-IE" sz="3200" i="1" dirty="0"/>
              <a:t>state</a:t>
            </a:r>
            <a:r>
              <a:rPr lang="en-IE" sz="3200" dirty="0"/>
              <a:t>) by adding </a:t>
            </a:r>
            <a:r>
              <a:rPr lang="en-IE" sz="3200" dirty="0">
                <a:solidFill>
                  <a:srgbClr val="FF0000"/>
                </a:solidFill>
              </a:rPr>
              <a:t>attributes</a:t>
            </a:r>
            <a:r>
              <a:rPr lang="en-IE" sz="3200" dirty="0"/>
              <a:t> to the class</a:t>
            </a:r>
          </a:p>
          <a:p>
            <a:pPr lvl="2"/>
            <a:r>
              <a:rPr lang="en-IE" sz="2800" dirty="0"/>
              <a:t>Attribute: A variable within the class </a:t>
            </a:r>
            <a:r>
              <a:rPr lang="en-IE" sz="2800" u="sng" dirty="0"/>
              <a:t>not</a:t>
            </a:r>
            <a:r>
              <a:rPr lang="en-IE" sz="2800" dirty="0"/>
              <a:t> defined within a method</a:t>
            </a:r>
          </a:p>
          <a:p>
            <a:pPr lvl="1"/>
            <a:endParaRPr lang="en-IE" sz="1300" dirty="0"/>
          </a:p>
          <a:p>
            <a:pPr lvl="1"/>
            <a:r>
              <a:rPr lang="en-IE" sz="3200" dirty="0"/>
              <a:t>Attributes are defined at the top of the class</a:t>
            </a:r>
          </a:p>
          <a:p>
            <a:pPr lvl="2"/>
            <a:r>
              <a:rPr lang="en-IE" sz="2800" dirty="0"/>
              <a:t>Should appear directly underneath the class signature</a:t>
            </a:r>
          </a:p>
          <a:p>
            <a:pPr lvl="1"/>
            <a:endParaRPr lang="en-IE" sz="1200" dirty="0"/>
          </a:p>
          <a:p>
            <a:pPr lvl="1"/>
            <a:r>
              <a:rPr lang="en-IE" sz="3200" dirty="0"/>
              <a:t>We can give each attribute a default value when we define it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D62C52B-C1AA-C8CC-78A6-418C3AF8A3FA}"/>
              </a:ext>
            </a:extLst>
          </p:cNvPr>
          <p:cNvSpPr/>
          <p:nvPr/>
        </p:nvSpPr>
        <p:spPr>
          <a:xfrm>
            <a:off x="1298562" y="4795598"/>
            <a:ext cx="1777042" cy="10316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Now every house has bay windows!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941E90-EDFF-F2A2-D606-C81801D68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885" y="4305714"/>
            <a:ext cx="4949190" cy="193032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5C4179B-B019-2B9B-CD21-69263AD9A740}"/>
              </a:ext>
            </a:extLst>
          </p:cNvPr>
          <p:cNvSpPr/>
          <p:nvPr/>
        </p:nvSpPr>
        <p:spPr>
          <a:xfrm>
            <a:off x="6937705" y="6234873"/>
            <a:ext cx="5124092" cy="5414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1700" dirty="0"/>
              <a:t>Full code: </a:t>
            </a:r>
            <a:r>
              <a:rPr lang="en-IE" sz="1700" dirty="0" err="1"/>
              <a:t>slide_examples.introducing_classes</a:t>
            </a:r>
            <a:r>
              <a:rPr lang="en-IE" sz="1700" dirty="0"/>
              <a:t>/entities/House.java</a:t>
            </a:r>
          </a:p>
        </p:txBody>
      </p:sp>
    </p:spTree>
    <p:extLst>
      <p:ext uri="{BB962C8B-B14F-4D97-AF65-F5344CB8AC3E}">
        <p14:creationId xmlns:p14="http://schemas.microsoft.com/office/powerpoint/2010/main" val="1218134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5A536-2D62-A180-C3E1-FA07E10FD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Terminology Check: </a:t>
            </a:r>
            <a:br>
              <a:rPr lang="en-IE" dirty="0"/>
            </a:br>
            <a:r>
              <a:rPr lang="en-IE" dirty="0"/>
              <a:t>Instances and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66D9F-10DC-CB92-AE52-ED13AC5D9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7316350" cy="4023360"/>
          </a:xfrm>
        </p:spPr>
        <p:txBody>
          <a:bodyPr>
            <a:normAutofit fontScale="85000" lnSpcReduction="10000"/>
          </a:bodyPr>
          <a:lstStyle/>
          <a:p>
            <a:pPr lvl="1"/>
            <a:r>
              <a:rPr lang="en-IE" sz="3200" dirty="0"/>
              <a:t>Instance: a single copy of a class</a:t>
            </a:r>
          </a:p>
          <a:p>
            <a:pPr lvl="2"/>
            <a:r>
              <a:rPr lang="en-IE" sz="2800" dirty="0"/>
              <a:t>An object built using that class’s structure/blueprint</a:t>
            </a:r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Each instance contains its </a:t>
            </a:r>
            <a:r>
              <a:rPr lang="en-IE" sz="3200" u="sng" dirty="0"/>
              <a:t>own</a:t>
            </a:r>
            <a:r>
              <a:rPr lang="en-IE" sz="3200" dirty="0"/>
              <a:t> set of attributes</a:t>
            </a:r>
          </a:p>
          <a:p>
            <a:pPr lvl="2"/>
            <a:r>
              <a:rPr lang="en-IE" sz="2800" dirty="0"/>
              <a:t>These are known as </a:t>
            </a:r>
            <a:r>
              <a:rPr lang="en-IE" sz="2800" b="1" dirty="0">
                <a:solidFill>
                  <a:srgbClr val="FF0000"/>
                </a:solidFill>
              </a:rPr>
              <a:t>instance variables</a:t>
            </a:r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Instance variables are </a:t>
            </a:r>
            <a:r>
              <a:rPr lang="en-IE" sz="3200" b="1" u="sng" dirty="0"/>
              <a:t>not shared </a:t>
            </a:r>
          </a:p>
          <a:p>
            <a:pPr lvl="2"/>
            <a:r>
              <a:rPr lang="en-IE" sz="2800" dirty="0"/>
              <a:t>Each instance variable belongs to a </a:t>
            </a:r>
            <a:r>
              <a:rPr lang="en-IE" sz="2800" i="1" dirty="0"/>
              <a:t>specific</a:t>
            </a:r>
            <a:r>
              <a:rPr lang="en-IE" sz="2800" dirty="0"/>
              <a:t> instance</a:t>
            </a:r>
          </a:p>
          <a:p>
            <a:pPr lvl="2"/>
            <a:r>
              <a:rPr lang="en-IE" sz="2800" dirty="0"/>
              <a:t>If </a:t>
            </a:r>
            <a:r>
              <a:rPr lang="en-IE" sz="2800" dirty="0" err="1"/>
              <a:t>houseA</a:t>
            </a:r>
            <a:r>
              <a:rPr lang="en-IE" sz="2800" dirty="0"/>
              <a:t> changes its colour, </a:t>
            </a:r>
            <a:r>
              <a:rPr lang="en-IE" sz="2800" dirty="0" err="1"/>
              <a:t>houseB</a:t>
            </a:r>
            <a:r>
              <a:rPr lang="en-IE" sz="2800" dirty="0"/>
              <a:t> won’t be affected</a:t>
            </a:r>
          </a:p>
        </p:txBody>
      </p:sp>
      <p:pic>
        <p:nvPicPr>
          <p:cNvPr id="4" name="Picture 3" descr="seagulls - finding nemo">
            <a:extLst>
              <a:ext uri="{FF2B5EF4-FFF2-40B4-BE49-F238E27FC236}">
                <a16:creationId xmlns:a16="http://schemas.microsoft.com/office/drawing/2014/main" id="{5ECE366C-2D19-AD16-8EE4-8D4A01D54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858" y="2164337"/>
            <a:ext cx="2473822" cy="338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4715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53C76-8EFA-19CF-B7FE-37FB82F0E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Creating an Instance: </a:t>
            </a:r>
            <a:br>
              <a:rPr lang="en-IE" dirty="0"/>
            </a:br>
            <a:r>
              <a:rPr lang="en-IE" dirty="0"/>
              <a:t>Building a House in our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10899-F31C-36F0-B428-B59E7967E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2346704"/>
          </a:xfrm>
        </p:spPr>
        <p:txBody>
          <a:bodyPr>
            <a:normAutofit fontScale="77500" lnSpcReduction="20000"/>
          </a:bodyPr>
          <a:lstStyle/>
          <a:p>
            <a:pPr lvl="1"/>
            <a:r>
              <a:rPr lang="en-IE" sz="3200" dirty="0"/>
              <a:t>House class defines a </a:t>
            </a:r>
            <a:r>
              <a:rPr lang="en-IE" sz="3200" dirty="0">
                <a:solidFill>
                  <a:srgbClr val="FF0000"/>
                </a:solidFill>
              </a:rPr>
              <a:t>new type </a:t>
            </a:r>
            <a:r>
              <a:rPr lang="en-IE" sz="3200" dirty="0"/>
              <a:t>in Java</a:t>
            </a:r>
          </a:p>
          <a:p>
            <a:pPr lvl="2"/>
            <a:r>
              <a:rPr lang="en-IE" sz="2800" dirty="0"/>
              <a:t>We can use that type to store and work with information just as we do int, double, String, ArrayList etc</a:t>
            </a:r>
          </a:p>
          <a:p>
            <a:pPr lvl="2"/>
            <a:endParaRPr lang="en-IE" sz="2800" dirty="0"/>
          </a:p>
          <a:p>
            <a:pPr lvl="1"/>
            <a:r>
              <a:rPr lang="en-IE" sz="3200" dirty="0"/>
              <a:t>To make a House object/</a:t>
            </a:r>
            <a:r>
              <a:rPr lang="en-IE" sz="3200" b="1" dirty="0"/>
              <a:t>instance</a:t>
            </a:r>
            <a:r>
              <a:rPr lang="en-IE" sz="3200" dirty="0"/>
              <a:t> in our code, we need to:</a:t>
            </a:r>
          </a:p>
          <a:p>
            <a:pPr marL="898398" lvl="2" indent="-514350">
              <a:buFont typeface="+mj-lt"/>
              <a:buAutoNum type="arabicPeriod"/>
            </a:pPr>
            <a:r>
              <a:rPr lang="en-IE" sz="2800" dirty="0"/>
              <a:t>Import the class (classes are built in their own individual files, one for each class)</a:t>
            </a:r>
          </a:p>
          <a:p>
            <a:pPr marL="898398" lvl="2" indent="-514350">
              <a:buFont typeface="+mj-lt"/>
              <a:buAutoNum type="arabicPeriod"/>
            </a:pPr>
            <a:r>
              <a:rPr lang="en-IE" sz="2800" dirty="0"/>
              <a:t>Create a variable </a:t>
            </a:r>
            <a:r>
              <a:rPr lang="en-IE" sz="2800" b="1" dirty="0"/>
              <a:t>of that type </a:t>
            </a:r>
            <a:r>
              <a:rPr lang="en-IE" sz="2800" dirty="0"/>
              <a:t>using the name of the class:</a:t>
            </a:r>
          </a:p>
          <a:p>
            <a:pPr lvl="1"/>
            <a:endParaRPr lang="en-IE" sz="32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D29D896-3C2C-F125-C98B-816DE8EFC409}"/>
              </a:ext>
            </a:extLst>
          </p:cNvPr>
          <p:cNvSpPr/>
          <p:nvPr/>
        </p:nvSpPr>
        <p:spPr>
          <a:xfrm>
            <a:off x="63260" y="5937197"/>
            <a:ext cx="5610143" cy="5414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1700" dirty="0"/>
              <a:t>Full code: </a:t>
            </a:r>
            <a:r>
              <a:rPr lang="en-IE" sz="1700" dirty="0" err="1"/>
              <a:t>slide_examples.introducing_classes</a:t>
            </a:r>
            <a:r>
              <a:rPr lang="en-IE" sz="1700" dirty="0"/>
              <a:t>/apps/HouseTestBed.java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6742EA-D9F9-1811-B63B-02D09C5F3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908" y="4100423"/>
            <a:ext cx="7098888" cy="1723822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7FB09A0-B91A-A603-4BE8-4E8E15D442FB}"/>
              </a:ext>
            </a:extLst>
          </p:cNvPr>
          <p:cNvCxnSpPr>
            <a:cxnSpLocks/>
          </p:cNvCxnSpPr>
          <p:nvPr/>
        </p:nvCxnSpPr>
        <p:spPr>
          <a:xfrm>
            <a:off x="1931204" y="3536830"/>
            <a:ext cx="1230704" cy="701615"/>
          </a:xfrm>
          <a:prstGeom prst="bentConnector3">
            <a:avLst>
              <a:gd name="adj1" fmla="val -981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7E32EE5-0FAE-6944-4833-91C4CE2A8FF2}"/>
              </a:ext>
            </a:extLst>
          </p:cNvPr>
          <p:cNvGrpSpPr/>
          <p:nvPr/>
        </p:nvGrpSpPr>
        <p:grpSpPr>
          <a:xfrm>
            <a:off x="7769530" y="3870384"/>
            <a:ext cx="3386150" cy="1846052"/>
            <a:chOff x="7769530" y="3887637"/>
            <a:chExt cx="3386150" cy="1846052"/>
          </a:xfrm>
        </p:grpSpPr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5FFBDD18-F7C7-A64C-BFB3-86C346E4344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769530" y="3887637"/>
              <a:ext cx="3324041" cy="1846052"/>
            </a:xfrm>
            <a:prstGeom prst="bentConnector3">
              <a:avLst>
                <a:gd name="adj1" fmla="val -242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C89F833-7766-A511-19ED-9F0B1515D2B2}"/>
                </a:ext>
              </a:extLst>
            </p:cNvPr>
            <p:cNvCxnSpPr/>
            <p:nvPr/>
          </p:nvCxnSpPr>
          <p:spPr>
            <a:xfrm flipH="1">
              <a:off x="8597660" y="3887637"/>
              <a:ext cx="255802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96873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C5CAB5A-A7BC-7900-BB67-7FE493AC0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54" y="4402536"/>
            <a:ext cx="9971180" cy="16207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CEAB3F-AB31-BDA4-38C5-EEDAED6E2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Changing Attributes: </a:t>
            </a:r>
            <a:br>
              <a:rPr lang="en-IE" dirty="0"/>
            </a:br>
            <a:r>
              <a:rPr lang="en-IE" dirty="0"/>
              <a:t>Customising Our 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79AAB-9B3D-DF80-38BA-0FD0C352E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2719827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en-IE" sz="3200" dirty="0"/>
              <a:t>Problem: The information inside the house isn’t changing</a:t>
            </a:r>
          </a:p>
          <a:p>
            <a:pPr lvl="2"/>
            <a:r>
              <a:rPr lang="en-IE" sz="2800" dirty="0"/>
              <a:t>Blueprint should define the </a:t>
            </a:r>
            <a:r>
              <a:rPr lang="en-IE" sz="2800" u="sng" dirty="0"/>
              <a:t>general shape</a:t>
            </a:r>
          </a:p>
          <a:p>
            <a:pPr lvl="2"/>
            <a:r>
              <a:rPr lang="en-IE" sz="2800" dirty="0"/>
              <a:t>Details should be able to </a:t>
            </a:r>
            <a:r>
              <a:rPr lang="en-IE" sz="2800" dirty="0">
                <a:solidFill>
                  <a:srgbClr val="FF0000"/>
                </a:solidFill>
              </a:rPr>
              <a:t>change</a:t>
            </a:r>
          </a:p>
          <a:p>
            <a:pPr lvl="2"/>
            <a:endParaRPr lang="en-IE" sz="2800" dirty="0"/>
          </a:p>
          <a:p>
            <a:pPr lvl="1"/>
            <a:r>
              <a:rPr lang="en-IE" sz="3200" dirty="0"/>
              <a:t>To change the details of a House, we can reset them</a:t>
            </a:r>
          </a:p>
          <a:p>
            <a:pPr lvl="2"/>
            <a:r>
              <a:rPr lang="en-IE" sz="2800" dirty="0"/>
              <a:t>We do this using </a:t>
            </a:r>
            <a:r>
              <a:rPr lang="en-IE" sz="2800" dirty="0" err="1">
                <a:latin typeface="Consolas" panose="020B0609020204030204" pitchFamily="49" charset="0"/>
              </a:rPr>
              <a:t>object_name</a:t>
            </a:r>
            <a:r>
              <a:rPr lang="en-IE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  <a:r>
              <a:rPr lang="en-IE" sz="2800" dirty="0" err="1">
                <a:latin typeface="Consolas" panose="020B0609020204030204" pitchFamily="49" charset="0"/>
              </a:rPr>
              <a:t>attribute_name</a:t>
            </a:r>
            <a:endParaRPr lang="en-IE" sz="2800" dirty="0">
              <a:latin typeface="Consolas" panose="020B0609020204030204" pitchFamily="49" charset="0"/>
            </a:endParaRPr>
          </a:p>
          <a:p>
            <a:pPr lvl="2"/>
            <a:endParaRPr lang="en-IE" sz="2800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8159B4F-4B7E-0768-1B14-3998BA5C2FDD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0792" y="4128491"/>
            <a:ext cx="4301708" cy="1339524"/>
          </a:xfrm>
          <a:prstGeom prst="bentConnector3">
            <a:avLst>
              <a:gd name="adj1" fmla="val -46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E7A699-91CC-D7CF-993C-8E97C52B1518}"/>
              </a:ext>
            </a:extLst>
          </p:cNvPr>
          <p:cNvSpPr/>
          <p:nvPr/>
        </p:nvSpPr>
        <p:spPr>
          <a:xfrm>
            <a:off x="10213197" y="4448666"/>
            <a:ext cx="1817298" cy="9208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Same notation to access/view information!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B1F6F1-E938-60A9-1875-369B41133FDE}"/>
              </a:ext>
            </a:extLst>
          </p:cNvPr>
          <p:cNvGrpSpPr/>
          <p:nvPr/>
        </p:nvGrpSpPr>
        <p:grpSpPr>
          <a:xfrm>
            <a:off x="7861541" y="5369505"/>
            <a:ext cx="3260306" cy="772506"/>
            <a:chOff x="8402128" y="5323497"/>
            <a:chExt cx="2719718" cy="772506"/>
          </a:xfrm>
        </p:grpSpPr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A69CB668-0B94-5A26-DA9C-12F1483300A8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 rot="5400000">
              <a:off x="9375734" y="4349891"/>
              <a:ext cx="772506" cy="2719718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528802F-1E5A-5500-47E6-B6045CAD41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02136" y="5917720"/>
              <a:ext cx="0" cy="1725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EFF8D2E-FD04-D8F7-DAB2-2E81998B1F48}"/>
              </a:ext>
            </a:extLst>
          </p:cNvPr>
          <p:cNvSpPr/>
          <p:nvPr/>
        </p:nvSpPr>
        <p:spPr>
          <a:xfrm>
            <a:off x="80512" y="6297283"/>
            <a:ext cx="5610143" cy="4149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1700" dirty="0" err="1"/>
              <a:t>slide_examples.introducing_classes</a:t>
            </a:r>
            <a:r>
              <a:rPr lang="en-IE" sz="1700" dirty="0"/>
              <a:t>/apps/HouseTestBed.java</a:t>
            </a:r>
          </a:p>
        </p:txBody>
      </p:sp>
    </p:spTree>
    <p:extLst>
      <p:ext uri="{BB962C8B-B14F-4D97-AF65-F5344CB8AC3E}">
        <p14:creationId xmlns:p14="http://schemas.microsoft.com/office/powerpoint/2010/main" val="2840837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BA366-02FC-A4D3-50DC-2EAFAF16D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Behaviour and Classes: </a:t>
            </a:r>
            <a:br>
              <a:rPr lang="en-IE" dirty="0"/>
            </a:br>
            <a:r>
              <a:rPr lang="en-IE" dirty="0"/>
              <a:t>Introducing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F2DDF-77E4-8142-FE42-CCD2AC0B5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8869105" cy="4023360"/>
          </a:xfrm>
        </p:spPr>
        <p:txBody>
          <a:bodyPr>
            <a:normAutofit lnSpcReduction="10000"/>
          </a:bodyPr>
          <a:lstStyle/>
          <a:p>
            <a:pPr lvl="1"/>
            <a:r>
              <a:rPr lang="en-IE" sz="3200" dirty="0"/>
              <a:t>Classes dictate a class’s </a:t>
            </a:r>
            <a:r>
              <a:rPr lang="en-IE" sz="3200" b="1" u="sng" dirty="0">
                <a:solidFill>
                  <a:srgbClr val="FF0000"/>
                </a:solidFill>
              </a:rPr>
              <a:t>attributes</a:t>
            </a:r>
          </a:p>
          <a:p>
            <a:pPr lvl="2"/>
            <a:r>
              <a:rPr lang="en-IE" sz="2800" dirty="0"/>
              <a:t>What information can be stored (its state); its variables</a:t>
            </a:r>
          </a:p>
          <a:p>
            <a:pPr lvl="1"/>
            <a:r>
              <a:rPr lang="en-IE" sz="3200" dirty="0"/>
              <a:t>Classes also dictate a class’s </a:t>
            </a:r>
            <a:r>
              <a:rPr lang="en-IE" sz="3200" b="1" u="sng" dirty="0">
                <a:solidFill>
                  <a:srgbClr val="FF0000"/>
                </a:solidFill>
              </a:rPr>
              <a:t>behaviour</a:t>
            </a:r>
          </a:p>
          <a:p>
            <a:pPr lvl="2"/>
            <a:r>
              <a:rPr lang="en-IE" sz="2800" dirty="0"/>
              <a:t>What that class can DO; its methods</a:t>
            </a:r>
          </a:p>
          <a:p>
            <a:pPr lvl="2"/>
            <a:endParaRPr lang="en-IE" sz="2800" dirty="0"/>
          </a:p>
          <a:p>
            <a:pPr lvl="1"/>
            <a:r>
              <a:rPr lang="en-IE" sz="3200" i="1" u="sng" dirty="0"/>
              <a:t>Usually</a:t>
            </a:r>
            <a:r>
              <a:rPr lang="en-IE" sz="3200" dirty="0"/>
              <a:t> no static keyword in the method signature</a:t>
            </a:r>
          </a:p>
          <a:p>
            <a:pPr lvl="2"/>
            <a:r>
              <a:rPr lang="en-IE" sz="2800" dirty="0"/>
              <a:t>We’re currently dealing with </a:t>
            </a:r>
            <a:r>
              <a:rPr lang="en-IE" sz="2800" u="sng" dirty="0"/>
              <a:t>instance</a:t>
            </a:r>
            <a:r>
              <a:rPr lang="en-IE" sz="2800" dirty="0"/>
              <a:t> methods – one copy for each object</a:t>
            </a:r>
          </a:p>
          <a:p>
            <a:pPr lvl="2"/>
            <a:r>
              <a:rPr lang="en-IE" sz="2800" dirty="0"/>
              <a:t>We’ll revisit static later…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8A37E76-05C9-4B05-98C4-D96B94DEC0E5}"/>
              </a:ext>
            </a:extLst>
          </p:cNvPr>
          <p:cNvGrpSpPr/>
          <p:nvPr/>
        </p:nvGrpSpPr>
        <p:grpSpPr>
          <a:xfrm>
            <a:off x="9711412" y="3865535"/>
            <a:ext cx="2288876" cy="2288876"/>
            <a:chOff x="9711412" y="3865535"/>
            <a:chExt cx="2288876" cy="2288876"/>
          </a:xfrm>
        </p:grpSpPr>
        <p:pic>
          <p:nvPicPr>
            <p:cNvPr id="4" name="Picture 3" descr="sharing is caring clip art #5933118 | Clipart Library">
              <a:extLst>
                <a:ext uri="{FF2B5EF4-FFF2-40B4-BE49-F238E27FC236}">
                  <a16:creationId xmlns:a16="http://schemas.microsoft.com/office/drawing/2014/main" id="{3E9C8AA6-1D6A-6DAB-7C0C-8A1DCA13B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03342" y="3991971"/>
              <a:ext cx="2070510" cy="2070510"/>
            </a:xfrm>
            <a:prstGeom prst="rect">
              <a:avLst/>
            </a:prstGeom>
          </p:spPr>
        </p:pic>
        <p:pic>
          <p:nvPicPr>
            <p:cNvPr id="9" name="Picture 8" descr="Transparent No Symbol PNGs for Free Download">
              <a:extLst>
                <a:ext uri="{FF2B5EF4-FFF2-40B4-BE49-F238E27FC236}">
                  <a16:creationId xmlns:a16="http://schemas.microsoft.com/office/drawing/2014/main" id="{6F45BEAC-D100-282C-9BAC-F764319E8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70000"/>
            </a:blip>
            <a:stretch>
              <a:fillRect/>
            </a:stretch>
          </p:blipFill>
          <p:spPr>
            <a:xfrm>
              <a:off x="9711412" y="3865535"/>
              <a:ext cx="2288876" cy="22888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019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CFD5D-FEF0-502C-2E2D-E157CB404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Adding Behaviour:</a:t>
            </a:r>
            <a:br>
              <a:rPr lang="en-IE" dirty="0"/>
            </a:br>
            <a:r>
              <a:rPr lang="en-IE" dirty="0"/>
              <a:t>Including Methods in our 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12B38-0E6E-CD42-0B5F-88D150C8A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2058839"/>
          </a:xfrm>
        </p:spPr>
        <p:txBody>
          <a:bodyPr>
            <a:normAutofit fontScale="70000" lnSpcReduction="20000"/>
          </a:bodyPr>
          <a:lstStyle/>
          <a:p>
            <a:pPr lvl="1"/>
            <a:r>
              <a:rPr lang="en-IE" sz="3200" dirty="0"/>
              <a:t>Instance methods (methods belonging to an object, i.e. NOT static methods) are written in the same way as any other methods</a:t>
            </a:r>
          </a:p>
          <a:p>
            <a:pPr lvl="2"/>
            <a:r>
              <a:rPr lang="en-IE" sz="2400" dirty="0"/>
              <a:t>Must include a name and a return type</a:t>
            </a:r>
          </a:p>
          <a:p>
            <a:pPr lvl="2"/>
            <a:r>
              <a:rPr lang="en-IE" sz="2400" dirty="0"/>
              <a:t>MAY have parameters</a:t>
            </a:r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We can use the </a:t>
            </a:r>
            <a:r>
              <a:rPr lang="en-IE" sz="3200" b="1" dirty="0">
                <a:solidFill>
                  <a:srgbClr val="FF0000"/>
                </a:solidFill>
                <a:latin typeface="Consolas" panose="020B0609020204030204" pitchFamily="49" charset="0"/>
              </a:rPr>
              <a:t>this</a:t>
            </a:r>
            <a:r>
              <a:rPr lang="en-IE" sz="3200" dirty="0"/>
              <a:t> keyword to indicate we’re using an instance variable</a:t>
            </a:r>
          </a:p>
          <a:p>
            <a:pPr lvl="2"/>
            <a:r>
              <a:rPr lang="en-IE" sz="2800" dirty="0"/>
              <a:t>Syntax: </a:t>
            </a:r>
            <a:r>
              <a:rPr lang="en-IE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this.numRooms</a:t>
            </a:r>
            <a:r>
              <a:rPr lang="en-IE" sz="2800" dirty="0"/>
              <a:t>: the </a:t>
            </a:r>
            <a:r>
              <a:rPr lang="en-IE" sz="2800" dirty="0" err="1"/>
              <a:t>numRooms</a:t>
            </a:r>
            <a:r>
              <a:rPr lang="en-IE" sz="2800" dirty="0"/>
              <a:t> belonging to THIS (the current) instance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B5956E-14DF-CA7E-B03D-8D14E4A0C471}"/>
              </a:ext>
            </a:extLst>
          </p:cNvPr>
          <p:cNvSpPr/>
          <p:nvPr/>
        </p:nvSpPr>
        <p:spPr>
          <a:xfrm>
            <a:off x="178279" y="6242732"/>
            <a:ext cx="5124092" cy="3286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1700" dirty="0" err="1"/>
              <a:t>slide_examples.introducing_classes</a:t>
            </a:r>
            <a:r>
              <a:rPr lang="en-IE" sz="1700" dirty="0"/>
              <a:t>/entities/House.java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2DB5B7-405C-36C0-FEA6-9A5023539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532" y="3904573"/>
            <a:ext cx="8387896" cy="1970926"/>
          </a:xfrm>
          <a:prstGeom prst="rect">
            <a:avLst/>
          </a:prstGeom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A0AEE980-A1DA-EE51-3E9E-47B2A981FF09}"/>
              </a:ext>
            </a:extLst>
          </p:cNvPr>
          <p:cNvCxnSpPr>
            <a:cxnSpLocks/>
            <a:endCxn id="15" idx="3"/>
          </p:cNvCxnSpPr>
          <p:nvPr/>
        </p:nvCxnSpPr>
        <p:spPr>
          <a:xfrm rot="16200000" flipH="1">
            <a:off x="9685235" y="4254842"/>
            <a:ext cx="1209429" cy="60958"/>
          </a:xfrm>
          <a:prstGeom prst="bentConnector4">
            <a:avLst>
              <a:gd name="adj1" fmla="val 224"/>
              <a:gd name="adj2" fmla="val 4750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5054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810BC49E-3D25-C255-DB23-D2717BFAA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241" y="3324045"/>
            <a:ext cx="8408478" cy="2303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2DEFBC-11C0-FBEB-1DFB-D47004070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Behaviour:</a:t>
            </a:r>
            <a:br>
              <a:rPr lang="en-IE" dirty="0"/>
            </a:br>
            <a:r>
              <a:rPr lang="en-IE" dirty="0"/>
              <a:t>Calling a Method on an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1382E-E0A7-9912-6F1D-233613DB0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IE" sz="3200" dirty="0"/>
              <a:t>To call a specific method, we state:</a:t>
            </a:r>
          </a:p>
          <a:p>
            <a:pPr lvl="2"/>
            <a:r>
              <a:rPr lang="en-IE" sz="2800" dirty="0"/>
              <a:t>What method should be run</a:t>
            </a:r>
          </a:p>
          <a:p>
            <a:pPr lvl="2"/>
            <a:r>
              <a:rPr lang="en-IE" sz="2800" dirty="0"/>
              <a:t>Which object/instance should run it</a:t>
            </a:r>
          </a:p>
          <a:p>
            <a:pPr lvl="2"/>
            <a:endParaRPr lang="en-IE" sz="2800" dirty="0"/>
          </a:p>
          <a:p>
            <a:pPr lvl="1"/>
            <a:endParaRPr lang="en-IE" sz="3200" dirty="0"/>
          </a:p>
          <a:p>
            <a:pPr lvl="1"/>
            <a:endParaRPr lang="en-IE" sz="32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8D8A6EA-CA37-609D-C06C-7A4AEB1BBADF}"/>
              </a:ext>
            </a:extLst>
          </p:cNvPr>
          <p:cNvGrpSpPr/>
          <p:nvPr/>
        </p:nvGrpSpPr>
        <p:grpSpPr>
          <a:xfrm>
            <a:off x="3835881" y="2579914"/>
            <a:ext cx="7016150" cy="2923739"/>
            <a:chOff x="4165987" y="2579914"/>
            <a:chExt cx="5696468" cy="29237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0364BB52-1D61-52D3-36C6-ADD497598368}"/>
                </a:ext>
              </a:extLst>
            </p:cNvPr>
            <p:cNvGrpSpPr/>
            <p:nvPr/>
          </p:nvGrpSpPr>
          <p:grpSpPr>
            <a:xfrm>
              <a:off x="4165987" y="2579914"/>
              <a:ext cx="5696468" cy="2923740"/>
              <a:chOff x="722753" y="2205099"/>
              <a:chExt cx="2348251" cy="2987842"/>
            </a:xfrm>
          </p:grpSpPr>
          <p:cxnSp>
            <p:nvCxnSpPr>
              <p:cNvPr id="25" name="Connector: Elbow 24">
                <a:extLst>
                  <a:ext uri="{FF2B5EF4-FFF2-40B4-BE49-F238E27FC236}">
                    <a16:creationId xmlns:a16="http://schemas.microsoft.com/office/drawing/2014/main" id="{3201027B-66D8-8D88-5BBB-8CB16420CC1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722753" y="4951980"/>
                <a:ext cx="2348251" cy="240960"/>
              </a:xfrm>
              <a:prstGeom prst="bentConnector3">
                <a:avLst>
                  <a:gd name="adj1" fmla="val 99918"/>
                </a:avLst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E25DFF3B-68A1-62A3-1BC5-B376AFA52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1004" y="2205099"/>
                <a:ext cx="0" cy="2987842"/>
              </a:xfrm>
              <a:prstGeom prst="lin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1AB9F3A-B0F2-DD20-742F-F471B2819B93}"/>
                </a:ext>
              </a:extLst>
            </p:cNvPr>
            <p:cNvCxnSpPr>
              <a:cxnSpLocks/>
            </p:cNvCxnSpPr>
            <p:nvPr/>
          </p:nvCxnSpPr>
          <p:spPr>
            <a:xfrm>
              <a:off x="5772203" y="2592979"/>
              <a:ext cx="4090251" cy="0"/>
            </a:xfrm>
            <a:prstGeom prst="line">
              <a:avLst/>
            </a:prstGeom>
            <a:ln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9494A41-5C33-78E2-3C8C-0FD9C7E4A10A}"/>
              </a:ext>
            </a:extLst>
          </p:cNvPr>
          <p:cNvSpPr/>
          <p:nvPr/>
        </p:nvSpPr>
        <p:spPr>
          <a:xfrm>
            <a:off x="265932" y="5869094"/>
            <a:ext cx="5610143" cy="341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1700" dirty="0" err="1"/>
              <a:t>slide_examples.introducing_classes</a:t>
            </a:r>
            <a:r>
              <a:rPr lang="en-IE" sz="1700" dirty="0"/>
              <a:t>/apps/HouseTestBed.java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C73052E-C33B-5AD4-3E2C-57D9FEAD00E3}"/>
              </a:ext>
            </a:extLst>
          </p:cNvPr>
          <p:cNvCxnSpPr>
            <a:cxnSpLocks/>
          </p:cNvCxnSpPr>
          <p:nvPr/>
        </p:nvCxnSpPr>
        <p:spPr>
          <a:xfrm rot="16200000" flipH="1">
            <a:off x="911524" y="3666225"/>
            <a:ext cx="2110597" cy="874144"/>
          </a:xfrm>
          <a:prstGeom prst="bentConnector3">
            <a:avLst>
              <a:gd name="adj1" fmla="val 10040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02709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F54C729-F234-0BAF-C1AB-8F2A8575B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48" y="5230763"/>
            <a:ext cx="10137464" cy="7125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74CF74-9C4C-10C1-1CAC-A50C28005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Including Parameterized Behaviour:</a:t>
            </a:r>
            <a:br>
              <a:rPr lang="en-IE" dirty="0"/>
            </a:br>
            <a:r>
              <a:rPr lang="en-IE" dirty="0"/>
              <a:t>Customising the Behaviour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166-BF3F-123B-2B54-B9E6327C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IE" sz="3200" dirty="0"/>
              <a:t>As with standard methods, we can include parameters in our instance methods:</a:t>
            </a:r>
          </a:p>
          <a:p>
            <a:pPr lvl="1"/>
            <a:endParaRPr lang="en-IE" sz="3200" dirty="0"/>
          </a:p>
          <a:p>
            <a:pPr lvl="1"/>
            <a:endParaRPr lang="en-IE" sz="3200" dirty="0"/>
          </a:p>
          <a:p>
            <a:pPr lvl="1"/>
            <a:r>
              <a:rPr lang="en-IE" sz="3200" dirty="0"/>
              <a:t>We can use this method with our object and supply the specified parameter as normal:</a:t>
            </a:r>
          </a:p>
          <a:p>
            <a:pPr lvl="1"/>
            <a:endParaRPr lang="en-IE" sz="3200" dirty="0"/>
          </a:p>
          <a:p>
            <a:pPr lvl="1"/>
            <a:endParaRPr lang="en-IE" sz="3200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3AC51FE-3D09-A3A1-5D06-7DC9553E00C3}"/>
              </a:ext>
            </a:extLst>
          </p:cNvPr>
          <p:cNvCxnSpPr>
            <a:cxnSpLocks/>
          </p:cNvCxnSpPr>
          <p:nvPr/>
        </p:nvCxnSpPr>
        <p:spPr>
          <a:xfrm>
            <a:off x="6659593" y="4552152"/>
            <a:ext cx="3697856" cy="945750"/>
          </a:xfrm>
          <a:prstGeom prst="bentConnector3">
            <a:avLst>
              <a:gd name="adj1" fmla="val 997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DCED47E-1DB9-14C3-F27C-AB244B900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005" y="2786650"/>
            <a:ext cx="6049990" cy="974150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B206978-F384-5DEC-82C3-35B2B5E61427}"/>
              </a:ext>
            </a:extLst>
          </p:cNvPr>
          <p:cNvSpPr/>
          <p:nvPr/>
        </p:nvSpPr>
        <p:spPr>
          <a:xfrm>
            <a:off x="6189404" y="6191974"/>
            <a:ext cx="5610143" cy="3416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1700" dirty="0" err="1"/>
              <a:t>slide_examples.introducing_classes</a:t>
            </a:r>
            <a:r>
              <a:rPr lang="en-IE" sz="1700" dirty="0"/>
              <a:t>/apps/HouseTestBed.java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743A03B-2777-F4F6-E61B-F3472CE7D972}"/>
              </a:ext>
            </a:extLst>
          </p:cNvPr>
          <p:cNvSpPr/>
          <p:nvPr/>
        </p:nvSpPr>
        <p:spPr>
          <a:xfrm>
            <a:off x="392453" y="6191974"/>
            <a:ext cx="5124092" cy="3286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1700" dirty="0" err="1"/>
              <a:t>slide_examples.introducing_classes</a:t>
            </a:r>
            <a:r>
              <a:rPr lang="en-IE" sz="1700" dirty="0"/>
              <a:t>/entities/House.java</a:t>
            </a:r>
          </a:p>
        </p:txBody>
      </p:sp>
    </p:spTree>
    <p:extLst>
      <p:ext uri="{BB962C8B-B14F-4D97-AF65-F5344CB8AC3E}">
        <p14:creationId xmlns:p14="http://schemas.microsoft.com/office/powerpoint/2010/main" val="162908788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6802</TotalTime>
  <Words>1231</Words>
  <Application>Microsoft Office PowerPoint</Application>
  <PresentationFormat>Widescreen</PresentationFormat>
  <Paragraphs>198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Calibri Light</vt:lpstr>
      <vt:lpstr>Consolas</vt:lpstr>
      <vt:lpstr>Retrospect</vt:lpstr>
      <vt:lpstr>Introducing Classes</vt:lpstr>
      <vt:lpstr>A Note on Programming Styles</vt:lpstr>
      <vt:lpstr>Introducing Objects and Classes</vt:lpstr>
      <vt:lpstr>Let’s Build a House</vt:lpstr>
      <vt:lpstr>Defining a House class:  The Blueprint for all Houses</vt:lpstr>
      <vt:lpstr>A Note on Class Names and  Naming Conventions</vt:lpstr>
      <vt:lpstr>Exercise: Good vs Bad Class Names</vt:lpstr>
      <vt:lpstr>Good Class Names!</vt:lpstr>
      <vt:lpstr>Bad Class Names: Verbs</vt:lpstr>
      <vt:lpstr>Bad Class Names: Underscores</vt:lpstr>
      <vt:lpstr>Bad Class Names: Not CapWords</vt:lpstr>
      <vt:lpstr>Troublesome Class Names</vt:lpstr>
      <vt:lpstr>Inserting Attributes:  Adding Detail to the House</vt:lpstr>
      <vt:lpstr>Terminology Check:  Instances and Attributes</vt:lpstr>
      <vt:lpstr>Creating an Instance:  Building a House in our Code</vt:lpstr>
      <vt:lpstr>Changing Attributes:  Customising Our House</vt:lpstr>
      <vt:lpstr>Behaviour and Classes:  Introducing Methods</vt:lpstr>
      <vt:lpstr>Adding Behaviour: Including Methods in our House</vt:lpstr>
      <vt:lpstr>Using Behaviour: Calling a Method on an Object</vt:lpstr>
      <vt:lpstr>Including Parameterized Behaviour: Customising the Behaviour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Classes</dc:title>
  <dc:creator>Michelle Graham</dc:creator>
  <cp:lastModifiedBy>Michelle Graham</cp:lastModifiedBy>
  <cp:revision>20</cp:revision>
  <dcterms:created xsi:type="dcterms:W3CDTF">2023-10-04T00:43:28Z</dcterms:created>
  <dcterms:modified xsi:type="dcterms:W3CDTF">2026-09-23T23:09:34Z</dcterms:modified>
</cp:coreProperties>
</file>