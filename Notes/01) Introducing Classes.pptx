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79" r:id="rId9"/>
    <p:sldId id="277" r:id="rId10"/>
    <p:sldId id="280" r:id="rId11"/>
    <p:sldId id="281" r:id="rId12"/>
    <p:sldId id="278" r:id="rId13"/>
    <p:sldId id="261" r:id="rId14"/>
    <p:sldId id="282" r:id="rId15"/>
    <p:sldId id="263" r:id="rId16"/>
    <p:sldId id="262" r:id="rId17"/>
    <p:sldId id="264" r:id="rId18"/>
    <p:sldId id="283" r:id="rId19"/>
    <p:sldId id="28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13CE1D6-E0F1-415D-8F3C-EC10F1A710C0}">
          <p14:sldIdLst>
            <p14:sldId id="256"/>
            <p14:sldId id="257"/>
            <p14:sldId id="258"/>
          </p14:sldIdLst>
        </p14:section>
        <p14:section name="Basic Class Definition" id="{48AE570A-3EF8-4D81-93E5-E6249700226A}">
          <p14:sldIdLst>
            <p14:sldId id="259"/>
            <p14:sldId id="260"/>
          </p14:sldIdLst>
        </p14:section>
        <p14:section name="Naming conventions" id="{38E5EAF4-CAD4-4796-ACDF-8259B3819C70}">
          <p14:sldIdLst>
            <p14:sldId id="275"/>
            <p14:sldId id="276"/>
            <p14:sldId id="279"/>
            <p14:sldId id="277"/>
            <p14:sldId id="280"/>
            <p14:sldId id="281"/>
            <p14:sldId id="278"/>
          </p14:sldIdLst>
        </p14:section>
        <p14:section name="Adding state" id="{9D95A682-AB13-42A3-9C50-E0F06CC44A4A}">
          <p14:sldIdLst>
            <p14:sldId id="261"/>
            <p14:sldId id="282"/>
            <p14:sldId id="263"/>
            <p14:sldId id="262"/>
          </p14:sldIdLst>
        </p14:section>
        <p14:section name="Adding behaviour" id="{671A0207-2174-4593-9D12-70181E75480B}">
          <p14:sldIdLst>
            <p14:sldId id="264"/>
            <p14:sldId id="283"/>
            <p14:sldId id="28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547DD-79E8-4ADA-A9F1-F09F551527AF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C3E11-FD7E-4E3D-A557-1CEE681E51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40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C3E11-FD7E-4E3D-A557-1CEE681E514B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493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18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377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9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847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146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130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667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3695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043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02069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998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FEC7C34-F4EF-4F0A-B9AE-A8DDABF3D064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D3ED9A-1DB3-4D2B-98B8-92D56B88BEB4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3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25EA-35FD-5B3A-565F-DBB0C0837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Introducing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76B09-493F-C866-242B-21077174A3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Modelling the real world in code</a:t>
            </a:r>
          </a:p>
        </p:txBody>
      </p:sp>
    </p:spTree>
    <p:extLst>
      <p:ext uri="{BB962C8B-B14F-4D97-AF65-F5344CB8AC3E}">
        <p14:creationId xmlns:p14="http://schemas.microsoft.com/office/powerpoint/2010/main" val="191902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22FC-6F1A-7F00-8E44-3DD659EF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Note on Programming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2BF5C-A4DA-8B00-EC4A-6FAC5BEB4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Up until now we have used </a:t>
            </a:r>
            <a:r>
              <a:rPr lang="en-IE" sz="3200" u="sng" dirty="0"/>
              <a:t>procedural</a:t>
            </a:r>
            <a:r>
              <a:rPr lang="en-IE" sz="3200" dirty="0"/>
              <a:t> programming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Action</a:t>
            </a:r>
            <a:r>
              <a:rPr lang="en-IE" sz="2800" dirty="0"/>
              <a:t>-driven</a:t>
            </a:r>
          </a:p>
          <a:p>
            <a:pPr lvl="2"/>
            <a:r>
              <a:rPr lang="en-IE" sz="2800" dirty="0"/>
              <a:t>Call procedures (functions) to carry out actions</a:t>
            </a:r>
          </a:p>
          <a:p>
            <a:pPr lvl="2"/>
            <a:r>
              <a:rPr lang="en-IE" sz="2800" dirty="0"/>
              <a:t>Everything is about steps/logic to be done, not about data to be worked with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Another programming style is </a:t>
            </a:r>
            <a:r>
              <a:rPr lang="en-IE" sz="3200" u="sng" dirty="0"/>
              <a:t>object-oriented</a:t>
            </a:r>
            <a:r>
              <a:rPr lang="en-IE" sz="3200" dirty="0"/>
              <a:t> programming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Data</a:t>
            </a:r>
            <a:r>
              <a:rPr lang="en-IE" sz="2800" dirty="0"/>
              <a:t>-driven</a:t>
            </a:r>
          </a:p>
          <a:p>
            <a:pPr lvl="2"/>
            <a:r>
              <a:rPr lang="en-IE" sz="2800" dirty="0"/>
              <a:t>Data is bundled in objects</a:t>
            </a:r>
          </a:p>
          <a:p>
            <a:pPr lvl="2"/>
            <a:r>
              <a:rPr lang="en-IE" sz="2800" dirty="0"/>
              <a:t>Objects have abilities (methods) they can perform on their own data</a:t>
            </a:r>
          </a:p>
          <a:p>
            <a:pPr lvl="2"/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440946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840F-B53F-CFD1-01AA-36EB6CB58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Introducing Objects and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C6E57-DFF6-B74A-B5BF-E8A83E848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Objects are a way to bind together multiple data fields (attributes) and corresponding abilities (methods)</a:t>
            </a:r>
          </a:p>
          <a:p>
            <a:pPr lvl="2"/>
            <a:r>
              <a:rPr lang="en-IE" sz="2800" dirty="0"/>
              <a:t>There can be an infinite* number of objects of any type in your program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Classes are a </a:t>
            </a:r>
            <a:r>
              <a:rPr lang="en-IE" sz="3200" b="1" u="sng" dirty="0"/>
              <a:t>blueprint</a:t>
            </a:r>
            <a:r>
              <a:rPr lang="en-IE" sz="3200" dirty="0"/>
              <a:t> for how these objects are structured</a:t>
            </a:r>
          </a:p>
          <a:p>
            <a:pPr lvl="2"/>
            <a:r>
              <a:rPr lang="en-IE" sz="2800" dirty="0"/>
              <a:t>The class defines the attributes and methods for all objects of that type</a:t>
            </a:r>
          </a:p>
          <a:p>
            <a:pPr lvl="2"/>
            <a:r>
              <a:rPr lang="en-IE" sz="2800" dirty="0"/>
              <a:t>Each object can insert its own information into its copies of the attributes</a:t>
            </a:r>
          </a:p>
        </p:txBody>
      </p:sp>
    </p:spTree>
    <p:extLst>
      <p:ext uri="{BB962C8B-B14F-4D97-AF65-F5344CB8AC3E}">
        <p14:creationId xmlns:p14="http://schemas.microsoft.com/office/powerpoint/2010/main" val="257697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0E5C5-8D13-7D3F-79CD-D75D63BB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Let’s Build a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1784D-4E33-59F0-43EF-60F072785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To define what a house looks like in our code, we would create a House class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House class would state what kind of things are inside the house, e.g.:</a:t>
            </a:r>
          </a:p>
          <a:p>
            <a:pPr lvl="2"/>
            <a:r>
              <a:rPr lang="en-IE" sz="2800" dirty="0"/>
              <a:t>Window type</a:t>
            </a:r>
          </a:p>
          <a:p>
            <a:pPr lvl="2"/>
            <a:r>
              <a:rPr lang="en-IE" sz="2800" dirty="0"/>
              <a:t>Number of rooms</a:t>
            </a:r>
          </a:p>
          <a:p>
            <a:pPr lvl="2"/>
            <a:r>
              <a:rPr lang="en-IE" sz="2800" dirty="0"/>
              <a:t>Colour</a:t>
            </a:r>
          </a:p>
          <a:p>
            <a:pPr lvl="2"/>
            <a:r>
              <a:rPr lang="en-IE" sz="2800" dirty="0"/>
              <a:t>Etc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To build a house, we would then make a House object </a:t>
            </a:r>
          </a:p>
          <a:p>
            <a:pPr lvl="2"/>
            <a:r>
              <a:rPr lang="en-IE" sz="2800" dirty="0"/>
              <a:t>Give a value to each of the things the class lists, e.g. bay for the window type, 10 for the number of rooms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751DEC-7507-487A-AF9E-0682AB16551D}"/>
              </a:ext>
            </a:extLst>
          </p:cNvPr>
          <p:cNvSpPr/>
          <p:nvPr/>
        </p:nvSpPr>
        <p:spPr>
          <a:xfrm>
            <a:off x="8315863" y="3370052"/>
            <a:ext cx="2202611" cy="1017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Blueprint for the overall shape of </a:t>
            </a:r>
            <a:r>
              <a:rPr lang="en-IE" b="1" u="sng" dirty="0"/>
              <a:t>any</a:t>
            </a:r>
            <a:r>
              <a:rPr lang="en-IE" dirty="0"/>
              <a:t> possible House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B29D94-3EE1-09FC-4682-A5FBDB64B024}"/>
              </a:ext>
            </a:extLst>
          </p:cNvPr>
          <p:cNvCxnSpPr>
            <a:cxnSpLocks/>
          </p:cNvCxnSpPr>
          <p:nvPr/>
        </p:nvCxnSpPr>
        <p:spPr>
          <a:xfrm flipH="1" flipV="1">
            <a:off x="4244196" y="3709358"/>
            <a:ext cx="4048664" cy="178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576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C098-E8E8-D2E8-6E97-42467BE5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Defining a House class: </a:t>
            </a:r>
            <a:br>
              <a:rPr lang="en-IE" dirty="0"/>
            </a:br>
            <a:r>
              <a:rPr lang="en-IE" dirty="0"/>
              <a:t>The Blueprint for all Houses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4C4AF-F04B-801A-C26F-AFD09016E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58852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Defining the House class gives us a blueprint for all House objects in our code</a:t>
            </a:r>
          </a:p>
          <a:p>
            <a:pPr lvl="1"/>
            <a:r>
              <a:rPr lang="en-IE" sz="3200" dirty="0"/>
              <a:t>We define a class using the </a:t>
            </a:r>
            <a:r>
              <a:rPr lang="en-IE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IE" sz="3200" dirty="0"/>
              <a:t> keyword:</a:t>
            </a:r>
          </a:p>
          <a:p>
            <a:pPr lvl="1"/>
            <a:endParaRPr lang="en-IE" sz="3200" dirty="0"/>
          </a:p>
          <a:p>
            <a:pPr lvl="2"/>
            <a:endParaRPr lang="en-IE" sz="2800" dirty="0"/>
          </a:p>
          <a:p>
            <a:pPr lvl="1"/>
            <a:endParaRPr lang="en-IE" sz="3200" dirty="0"/>
          </a:p>
          <a:p>
            <a:pPr lvl="1"/>
            <a:endParaRPr lang="en-IE" sz="32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1"/>
            <a:r>
              <a:rPr lang="en-IE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IE" sz="3200" dirty="0"/>
              <a:t> marks the block of code as a class</a:t>
            </a:r>
          </a:p>
          <a:p>
            <a:pPr lvl="1"/>
            <a:r>
              <a:rPr lang="en-IE" sz="2800" dirty="0"/>
              <a:t>The code within the class defines:</a:t>
            </a:r>
          </a:p>
          <a:p>
            <a:pPr lvl="2"/>
            <a:r>
              <a:rPr lang="en-IE" sz="2400" dirty="0"/>
              <a:t>What is </a:t>
            </a:r>
            <a:r>
              <a:rPr lang="en-IE" sz="2400" b="1" dirty="0"/>
              <a:t>stored</a:t>
            </a:r>
            <a:r>
              <a:rPr lang="en-IE" sz="2400" dirty="0"/>
              <a:t> by that class </a:t>
            </a:r>
          </a:p>
          <a:p>
            <a:pPr lvl="2"/>
            <a:r>
              <a:rPr lang="en-IE" sz="2400" dirty="0"/>
              <a:t>What that class </a:t>
            </a:r>
            <a:r>
              <a:rPr lang="en-IE" sz="2400" b="1" dirty="0"/>
              <a:t>can do</a:t>
            </a:r>
          </a:p>
          <a:p>
            <a:pPr lvl="1"/>
            <a:endParaRPr lang="en-IE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D6FFE2-786F-83A4-6B88-0B648450B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999" y="2989613"/>
            <a:ext cx="4895530" cy="132447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C978F37-5D9D-2668-3569-CECCFCEF83EB}"/>
              </a:ext>
            </a:extLst>
          </p:cNvPr>
          <p:cNvGrpSpPr/>
          <p:nvPr/>
        </p:nvGrpSpPr>
        <p:grpSpPr>
          <a:xfrm>
            <a:off x="6406551" y="2891290"/>
            <a:ext cx="4400947" cy="720306"/>
            <a:chOff x="6395049" y="2793520"/>
            <a:chExt cx="4400947" cy="72030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5EBC4AE-A011-A042-5170-DA27368180DB}"/>
                </a:ext>
              </a:extLst>
            </p:cNvPr>
            <p:cNvSpPr/>
            <p:nvPr/>
          </p:nvSpPr>
          <p:spPr>
            <a:xfrm>
              <a:off x="9167004" y="2793520"/>
              <a:ext cx="1628992" cy="72030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Signature of the class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EA0DAA1-D620-0D3F-52F7-FC8CDBC67FD3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6395049" y="3153673"/>
              <a:ext cx="27719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237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D572-FAF4-E380-AEBF-25B3B6EA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Note on Class Names and </a:t>
            </a:r>
            <a:br>
              <a:rPr lang="en-IE" dirty="0"/>
            </a:br>
            <a:r>
              <a:rPr lang="en-IE" dirty="0"/>
              <a:t>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6A22-6780-34C7-3B1B-E5F9414AA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Class names should be </a:t>
            </a:r>
            <a:r>
              <a:rPr lang="en-IE" sz="3200" dirty="0">
                <a:solidFill>
                  <a:srgbClr val="FF0000"/>
                </a:solidFill>
              </a:rPr>
              <a:t>nouns</a:t>
            </a:r>
          </a:p>
          <a:p>
            <a:pPr lvl="2"/>
            <a:r>
              <a:rPr lang="en-IE" sz="2800" dirty="0"/>
              <a:t>The name of the entity being modelled in code</a:t>
            </a:r>
          </a:p>
          <a:p>
            <a:pPr lvl="2"/>
            <a:r>
              <a:rPr lang="en-IE" sz="2800" dirty="0"/>
              <a:t>Usually singular, unless you are storing data on multiple entities in one object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Classes do not follow the same naming conventions we’ve used up to now!</a:t>
            </a:r>
          </a:p>
          <a:p>
            <a:pPr lvl="2"/>
            <a:r>
              <a:rPr lang="en-IE" sz="2800" dirty="0"/>
              <a:t>We always </a:t>
            </a:r>
            <a:r>
              <a:rPr lang="en-IE" sz="2800" dirty="0">
                <a:solidFill>
                  <a:srgbClr val="FF0000"/>
                </a:solidFill>
              </a:rPr>
              <a:t>start</a:t>
            </a:r>
            <a:r>
              <a:rPr lang="en-IE" sz="2800" dirty="0"/>
              <a:t> a class name </a:t>
            </a:r>
            <a:r>
              <a:rPr lang="en-IE" sz="2800" dirty="0">
                <a:solidFill>
                  <a:srgbClr val="FF0000"/>
                </a:solidFill>
              </a:rPr>
              <a:t>with an uppercase letter</a:t>
            </a:r>
          </a:p>
          <a:p>
            <a:pPr lvl="2"/>
            <a:r>
              <a:rPr lang="en-IE" sz="2800" dirty="0"/>
              <a:t>We </a:t>
            </a:r>
            <a:r>
              <a:rPr lang="en-IE" sz="2800" dirty="0">
                <a:solidFill>
                  <a:srgbClr val="FF0000"/>
                </a:solidFill>
              </a:rPr>
              <a:t>do not use _ </a:t>
            </a:r>
            <a:r>
              <a:rPr lang="en-IE" sz="2800" dirty="0"/>
              <a:t>in class names</a:t>
            </a:r>
          </a:p>
          <a:p>
            <a:pPr lvl="2"/>
            <a:r>
              <a:rPr lang="en-IE" sz="2800" dirty="0"/>
              <a:t>Where there is more than one word in the name of the class, we use </a:t>
            </a:r>
            <a:r>
              <a:rPr lang="en-IE" sz="2800" dirty="0">
                <a:solidFill>
                  <a:srgbClr val="FF0000"/>
                </a:solidFill>
              </a:rPr>
              <a:t>cap case</a:t>
            </a:r>
            <a:r>
              <a:rPr lang="en-IE" sz="2800" dirty="0"/>
              <a:t>:</a:t>
            </a:r>
          </a:p>
          <a:p>
            <a:pPr lvl="3"/>
            <a:r>
              <a:rPr lang="en-IE" sz="2400" dirty="0"/>
              <a:t>The class name is still all one word (no spaces allowed)</a:t>
            </a:r>
          </a:p>
          <a:p>
            <a:pPr lvl="3"/>
            <a:r>
              <a:rPr lang="en-IE" sz="2400" dirty="0"/>
              <a:t>There is an uppercase letter at the start of each new word within the name</a:t>
            </a:r>
          </a:p>
        </p:txBody>
      </p:sp>
    </p:spTree>
    <p:extLst>
      <p:ext uri="{BB962C8B-B14F-4D97-AF65-F5344CB8AC3E}">
        <p14:creationId xmlns:p14="http://schemas.microsoft.com/office/powerpoint/2010/main" val="412110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AC8E-1780-E81C-5DAE-0CB6B3CA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Exercise: Good vs Bad Class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FF555-F5B3-C59C-D9F8-64156633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house</a:t>
            </a:r>
          </a:p>
          <a:p>
            <a:pPr lvl="1"/>
            <a:r>
              <a:rPr lang="en-IE" sz="3200" dirty="0"/>
              <a:t>Address</a:t>
            </a:r>
          </a:p>
          <a:p>
            <a:pPr lvl="1"/>
            <a:r>
              <a:rPr lang="en-IE" sz="3200" dirty="0" err="1"/>
              <a:t>Customer_Data</a:t>
            </a:r>
            <a:endParaRPr lang="en-IE" sz="3200" dirty="0"/>
          </a:p>
          <a:p>
            <a:pPr lvl="1"/>
            <a:r>
              <a:rPr lang="en-IE" sz="3200" dirty="0"/>
              <a:t>Houses</a:t>
            </a:r>
          </a:p>
          <a:p>
            <a:pPr lvl="1"/>
            <a:r>
              <a:rPr lang="en-IE" sz="3200" dirty="0"/>
              <a:t>Car</a:t>
            </a:r>
          </a:p>
          <a:p>
            <a:pPr lvl="1"/>
            <a:r>
              <a:rPr lang="en-IE" sz="3200" dirty="0"/>
              <a:t>furniture</a:t>
            </a:r>
          </a:p>
          <a:p>
            <a:pPr lvl="1"/>
            <a:r>
              <a:rPr lang="en-IE" sz="3200" dirty="0" err="1"/>
              <a:t>Buildingblock</a:t>
            </a:r>
            <a:endParaRPr lang="en-IE" sz="3200" dirty="0"/>
          </a:p>
          <a:p>
            <a:pPr lvl="1"/>
            <a:r>
              <a:rPr lang="en-IE" sz="3200" dirty="0"/>
              <a:t>Orders</a:t>
            </a:r>
          </a:p>
          <a:p>
            <a:pPr lvl="1"/>
            <a:r>
              <a:rPr lang="en-IE" sz="3200" dirty="0"/>
              <a:t>Loaning</a:t>
            </a:r>
          </a:p>
          <a:p>
            <a:pPr lvl="1"/>
            <a:r>
              <a:rPr lang="en-IE" sz="3200" dirty="0" err="1"/>
              <a:t>motorFactory</a:t>
            </a:r>
            <a:endParaRPr lang="en-IE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43BF1E-AB29-A0F5-6FF1-5DBA48E9FA00}"/>
              </a:ext>
            </a:extLst>
          </p:cNvPr>
          <p:cNvSpPr/>
          <p:nvPr/>
        </p:nvSpPr>
        <p:spPr>
          <a:xfrm>
            <a:off x="7125420" y="2643996"/>
            <a:ext cx="3099758" cy="1570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Which of these are good options for names?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Which are unsuitable?</a:t>
            </a:r>
          </a:p>
        </p:txBody>
      </p:sp>
    </p:spTree>
    <p:extLst>
      <p:ext uri="{BB962C8B-B14F-4D97-AF65-F5344CB8AC3E}">
        <p14:creationId xmlns:p14="http://schemas.microsoft.com/office/powerpoint/2010/main" val="408931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AC8E-1780-E81C-5DAE-0CB6B3CA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Good Class Names!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FF555-F5B3-C59C-D9F8-64156633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house</a:t>
            </a:r>
          </a:p>
          <a:p>
            <a:pPr lvl="1"/>
            <a:r>
              <a:rPr lang="en-IE" sz="3200" dirty="0">
                <a:solidFill>
                  <a:srgbClr val="00B050"/>
                </a:solidFill>
              </a:rPr>
              <a:t>Address</a:t>
            </a:r>
          </a:p>
          <a:p>
            <a:pPr lvl="1"/>
            <a:r>
              <a:rPr lang="en-IE" sz="3200" dirty="0" err="1"/>
              <a:t>Customer_Data</a:t>
            </a:r>
            <a:endParaRPr lang="en-IE" sz="3200" dirty="0"/>
          </a:p>
          <a:p>
            <a:pPr lvl="1"/>
            <a:r>
              <a:rPr lang="en-IE" sz="3200" dirty="0"/>
              <a:t>Houses</a:t>
            </a:r>
          </a:p>
          <a:p>
            <a:pPr lvl="1"/>
            <a:r>
              <a:rPr lang="en-IE" sz="3200" dirty="0">
                <a:solidFill>
                  <a:srgbClr val="00B050"/>
                </a:solidFill>
              </a:rPr>
              <a:t>Car</a:t>
            </a:r>
          </a:p>
          <a:p>
            <a:pPr lvl="1"/>
            <a:r>
              <a:rPr lang="en-IE" sz="3200" dirty="0"/>
              <a:t>furniture</a:t>
            </a:r>
          </a:p>
          <a:p>
            <a:pPr lvl="1"/>
            <a:r>
              <a:rPr lang="en-IE" sz="3200" dirty="0" err="1"/>
              <a:t>Buildingblock</a:t>
            </a:r>
            <a:endParaRPr lang="en-IE" sz="3200" dirty="0"/>
          </a:p>
          <a:p>
            <a:pPr lvl="1"/>
            <a:r>
              <a:rPr lang="en-IE" sz="3200" dirty="0"/>
              <a:t>Orders</a:t>
            </a:r>
          </a:p>
          <a:p>
            <a:pPr lvl="1"/>
            <a:r>
              <a:rPr lang="en-IE" sz="3200" dirty="0"/>
              <a:t>Loaning</a:t>
            </a:r>
          </a:p>
          <a:p>
            <a:pPr lvl="1"/>
            <a:r>
              <a:rPr lang="en-IE" sz="3200" dirty="0" err="1"/>
              <a:t>motorFactory</a:t>
            </a:r>
            <a:endParaRPr lang="en-IE" sz="3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F417519-D0A7-B43A-216D-DC18A59F2A0D}"/>
              </a:ext>
            </a:extLst>
          </p:cNvPr>
          <p:cNvGrpSpPr/>
          <p:nvPr/>
        </p:nvGrpSpPr>
        <p:grpSpPr>
          <a:xfrm>
            <a:off x="2260122" y="2367950"/>
            <a:ext cx="8465388" cy="1260895"/>
            <a:chOff x="2260122" y="2367950"/>
            <a:chExt cx="8465388" cy="126089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843BF1E-AB29-A0F5-6FF1-5DBA48E9FA00}"/>
                </a:ext>
              </a:extLst>
            </p:cNvPr>
            <p:cNvSpPr/>
            <p:nvPr/>
          </p:nvSpPr>
          <p:spPr>
            <a:xfrm>
              <a:off x="7274943" y="2367950"/>
              <a:ext cx="3450567" cy="126089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2000" dirty="0"/>
                <a:t>These are very clear class names and are in line with Java’s naming conventions</a:t>
              </a:r>
            </a:p>
          </p:txBody>
        </p:sp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D95FB11E-3308-F3FF-5FA3-03838626378D}"/>
                </a:ext>
              </a:extLst>
            </p:cNvPr>
            <p:cNvCxnSpPr>
              <a:stCxn id="4" idx="1"/>
            </p:cNvCxnSpPr>
            <p:nvPr/>
          </p:nvCxnSpPr>
          <p:spPr>
            <a:xfrm rot="10800000">
              <a:off x="2817963" y="2409646"/>
              <a:ext cx="4456981" cy="588753"/>
            </a:xfrm>
            <a:prstGeom prst="bentConnector3">
              <a:avLst>
                <a:gd name="adj1" fmla="val 3077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76A35E0B-2F0E-0A6A-38D0-B54539FDB40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260122" y="2998397"/>
              <a:ext cx="5032075" cy="630447"/>
            </a:xfrm>
            <a:prstGeom prst="bentConnector3">
              <a:avLst>
                <a:gd name="adj1" fmla="val 276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3915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AC8E-1780-E81C-5DAE-0CB6B3CA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Bad Class Names: Verbs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FF555-F5B3-C59C-D9F8-64156633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house</a:t>
            </a:r>
          </a:p>
          <a:p>
            <a:pPr lvl="1"/>
            <a:r>
              <a:rPr lang="en-IE" sz="3200" dirty="0"/>
              <a:t>Address</a:t>
            </a:r>
          </a:p>
          <a:p>
            <a:pPr lvl="1"/>
            <a:r>
              <a:rPr lang="en-IE" sz="3200" dirty="0" err="1"/>
              <a:t>Customer_Data</a:t>
            </a:r>
            <a:endParaRPr lang="en-IE" sz="3200" dirty="0"/>
          </a:p>
          <a:p>
            <a:pPr lvl="1"/>
            <a:r>
              <a:rPr lang="en-IE" sz="3200" dirty="0"/>
              <a:t>Houses</a:t>
            </a:r>
          </a:p>
          <a:p>
            <a:pPr lvl="1"/>
            <a:r>
              <a:rPr lang="en-IE" sz="3200" dirty="0"/>
              <a:t>Car</a:t>
            </a:r>
          </a:p>
          <a:p>
            <a:pPr lvl="1"/>
            <a:r>
              <a:rPr lang="en-IE" sz="3200" dirty="0"/>
              <a:t>furniture</a:t>
            </a:r>
          </a:p>
          <a:p>
            <a:pPr lvl="1"/>
            <a:r>
              <a:rPr lang="en-IE" sz="3200" dirty="0" err="1"/>
              <a:t>Buildingblock</a:t>
            </a:r>
            <a:endParaRPr lang="en-IE" sz="3200" dirty="0"/>
          </a:p>
          <a:p>
            <a:pPr lvl="1"/>
            <a:r>
              <a:rPr lang="en-IE" sz="3200" dirty="0"/>
              <a:t>Orders</a:t>
            </a:r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Loaning</a:t>
            </a:r>
          </a:p>
          <a:p>
            <a:pPr lvl="1"/>
            <a:r>
              <a:rPr lang="en-IE" sz="3200" dirty="0" err="1"/>
              <a:t>motorFactory</a:t>
            </a:r>
            <a:endParaRPr lang="en-IE" sz="32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FA54E8E-9BB3-7D4D-8E99-395D5875B790}"/>
              </a:ext>
            </a:extLst>
          </p:cNvPr>
          <p:cNvSpPr/>
          <p:nvPr/>
        </p:nvSpPr>
        <p:spPr>
          <a:xfrm>
            <a:off x="6688275" y="3137011"/>
            <a:ext cx="3194649" cy="583978"/>
          </a:xfrm>
          <a:prstGeom prst="roundRect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Name is a verb, not a noun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10D82F4-FBA0-9881-AA79-848C6E2A32FF}"/>
              </a:ext>
            </a:extLst>
          </p:cNvPr>
          <p:cNvCxnSpPr>
            <a:cxnSpLocks/>
            <a:stCxn id="41" idx="1"/>
          </p:cNvCxnSpPr>
          <p:nvPr/>
        </p:nvCxnSpPr>
        <p:spPr>
          <a:xfrm rot="10800000" flipV="1">
            <a:off x="2886975" y="3429000"/>
            <a:ext cx="3801301" cy="1787106"/>
          </a:xfrm>
          <a:prstGeom prst="bentConnector3">
            <a:avLst>
              <a:gd name="adj1" fmla="val 12329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57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B6CF-2E95-0626-B885-6359A7CE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5707-1CEC-3B9B-2F08-BD0579B9F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Bad Class Names: Underscores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79181-716E-7834-94AB-17633074D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house</a:t>
            </a:r>
          </a:p>
          <a:p>
            <a:pPr lvl="1"/>
            <a:r>
              <a:rPr lang="en-IE" sz="3200" dirty="0"/>
              <a:t>Address</a:t>
            </a:r>
          </a:p>
          <a:p>
            <a:pPr lvl="1"/>
            <a:r>
              <a:rPr lang="en-IE" sz="3200" dirty="0" err="1">
                <a:solidFill>
                  <a:srgbClr val="FF0000"/>
                </a:solidFill>
              </a:rPr>
              <a:t>Customer_Data</a:t>
            </a:r>
            <a:endParaRPr lang="en-IE" sz="3200" dirty="0">
              <a:solidFill>
                <a:srgbClr val="FF0000"/>
              </a:solidFill>
            </a:endParaRPr>
          </a:p>
          <a:p>
            <a:pPr lvl="1"/>
            <a:r>
              <a:rPr lang="en-IE" sz="3200" dirty="0"/>
              <a:t>Houses</a:t>
            </a:r>
          </a:p>
          <a:p>
            <a:pPr lvl="1"/>
            <a:r>
              <a:rPr lang="en-IE" sz="3200" dirty="0"/>
              <a:t>Car</a:t>
            </a:r>
          </a:p>
          <a:p>
            <a:pPr lvl="1"/>
            <a:r>
              <a:rPr lang="en-IE" sz="3200" dirty="0"/>
              <a:t>furniture</a:t>
            </a:r>
          </a:p>
          <a:p>
            <a:pPr lvl="1"/>
            <a:r>
              <a:rPr lang="en-IE" sz="3200" dirty="0" err="1"/>
              <a:t>Buildingblock</a:t>
            </a:r>
            <a:endParaRPr lang="en-IE" sz="3200" dirty="0"/>
          </a:p>
          <a:p>
            <a:pPr lvl="1"/>
            <a:r>
              <a:rPr lang="en-IE" sz="3200" dirty="0">
                <a:solidFill>
                  <a:schemeClr val="tx1"/>
                </a:solidFill>
              </a:rPr>
              <a:t>Orders</a:t>
            </a:r>
          </a:p>
          <a:p>
            <a:pPr lvl="1"/>
            <a:r>
              <a:rPr lang="en-IE" sz="3200" strike="sngStrike" dirty="0"/>
              <a:t>Loaning</a:t>
            </a:r>
          </a:p>
          <a:p>
            <a:pPr lvl="1"/>
            <a:r>
              <a:rPr lang="en-IE" sz="3200" dirty="0" err="1"/>
              <a:t>motorFactory</a:t>
            </a:r>
            <a:endParaRPr lang="en-IE" sz="32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6667884-13FD-76B5-7B9F-5339DCD5FBE9}"/>
              </a:ext>
            </a:extLst>
          </p:cNvPr>
          <p:cNvSpPr/>
          <p:nvPr/>
        </p:nvSpPr>
        <p:spPr>
          <a:xfrm>
            <a:off x="6688275" y="4230933"/>
            <a:ext cx="3194649" cy="583978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Name uses an underscore to separate component words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3D499A4-B1E9-3625-589E-D4914EE9C28C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>
            <a:off x="4065917" y="2872596"/>
            <a:ext cx="2622358" cy="1650327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251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4932-B771-5B9A-918D-3B00201E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2388-7FF3-B56F-52EC-82E9209D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Bad Class Names: Not </a:t>
            </a:r>
            <a:r>
              <a:rPr lang="en-IE" dirty="0" err="1"/>
              <a:t>CapWords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660F4-CE5B-8582-D9E4-39189B38E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3200" dirty="0">
                <a:solidFill>
                  <a:srgbClr val="FF0000"/>
                </a:solidFill>
              </a:rPr>
              <a:t>house</a:t>
            </a:r>
          </a:p>
          <a:p>
            <a:pPr lvl="1"/>
            <a:r>
              <a:rPr lang="en-IE" sz="3200" dirty="0"/>
              <a:t>Address</a:t>
            </a:r>
          </a:p>
          <a:p>
            <a:pPr lvl="1"/>
            <a:r>
              <a:rPr lang="en-IE" sz="3200" strike="sngStrike" dirty="0" err="1"/>
              <a:t>Customer_Data</a:t>
            </a:r>
            <a:endParaRPr lang="en-IE" sz="3200" strike="sngStrike" dirty="0"/>
          </a:p>
          <a:p>
            <a:pPr lvl="1"/>
            <a:r>
              <a:rPr lang="en-IE" sz="3200" dirty="0"/>
              <a:t>Houses</a:t>
            </a:r>
          </a:p>
          <a:p>
            <a:pPr lvl="1"/>
            <a:r>
              <a:rPr lang="en-IE" sz="3200" dirty="0"/>
              <a:t>Car</a:t>
            </a:r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furniture</a:t>
            </a:r>
          </a:p>
          <a:p>
            <a:pPr lvl="1"/>
            <a:r>
              <a:rPr lang="en-IE" sz="3200" dirty="0" err="1">
                <a:solidFill>
                  <a:srgbClr val="FF0000"/>
                </a:solidFill>
              </a:rPr>
              <a:t>Buildingblock</a:t>
            </a:r>
            <a:endParaRPr lang="en-IE" sz="3200" dirty="0">
              <a:solidFill>
                <a:srgbClr val="FF0000"/>
              </a:solidFill>
            </a:endParaRPr>
          </a:p>
          <a:p>
            <a:pPr lvl="1"/>
            <a:r>
              <a:rPr lang="en-IE" sz="3200" dirty="0">
                <a:solidFill>
                  <a:schemeClr val="tx1"/>
                </a:solidFill>
              </a:rPr>
              <a:t>Orders</a:t>
            </a:r>
          </a:p>
          <a:p>
            <a:pPr lvl="1"/>
            <a:r>
              <a:rPr lang="en-IE" sz="3200" strike="sngStrike" dirty="0"/>
              <a:t>Loaning</a:t>
            </a:r>
          </a:p>
          <a:p>
            <a:pPr lvl="1"/>
            <a:r>
              <a:rPr lang="en-IE" sz="3200" dirty="0" err="1">
                <a:solidFill>
                  <a:srgbClr val="FF0000"/>
                </a:solidFill>
              </a:rPr>
              <a:t>motorFactory</a:t>
            </a:r>
            <a:endParaRPr lang="en-IE" sz="3200" dirty="0">
              <a:solidFill>
                <a:srgbClr val="FF0000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4CD485-26A5-AE14-CB62-AFC5C0DE549C}"/>
              </a:ext>
            </a:extLst>
          </p:cNvPr>
          <p:cNvGrpSpPr/>
          <p:nvPr/>
        </p:nvGrpSpPr>
        <p:grpSpPr>
          <a:xfrm>
            <a:off x="2541917" y="2030083"/>
            <a:ext cx="7341007" cy="3839011"/>
            <a:chOff x="2541917" y="2030083"/>
            <a:chExt cx="7341007" cy="383901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45612CE-BCA9-6252-B387-3AACB0477FC0}"/>
                </a:ext>
              </a:extLst>
            </p:cNvPr>
            <p:cNvGrpSpPr/>
            <p:nvPr/>
          </p:nvGrpSpPr>
          <p:grpSpPr>
            <a:xfrm>
              <a:off x="2541917" y="2030083"/>
              <a:ext cx="7341007" cy="3839011"/>
              <a:chOff x="2541917" y="2030083"/>
              <a:chExt cx="7341007" cy="3839011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E590F8-9F0D-DF27-45FA-C0D3474DF282}"/>
                  </a:ext>
                </a:extLst>
              </p:cNvPr>
              <p:cNvSpPr/>
              <p:nvPr/>
            </p:nvSpPr>
            <p:spPr>
              <a:xfrm>
                <a:off x="6688275" y="5285116"/>
                <a:ext cx="3194649" cy="58397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2000" dirty="0"/>
                  <a:t>Name/Internal word starts with a lowercase letter</a:t>
                </a:r>
              </a:p>
            </p:txBody>
          </p:sp>
          <p:cxnSp>
            <p:nvCxnSpPr>
              <p:cNvPr id="10" name="Connector: Elbow 9">
                <a:extLst>
                  <a:ext uri="{FF2B5EF4-FFF2-40B4-BE49-F238E27FC236}">
                    <a16:creationId xmlns:a16="http://schemas.microsoft.com/office/drawing/2014/main" id="{386564CF-03DC-9D70-20BF-2DF058E2A439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rot="10800000">
                <a:off x="2541917" y="2030083"/>
                <a:ext cx="4146358" cy="3547022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: Elbow 11">
                <a:extLst>
                  <a:ext uri="{FF2B5EF4-FFF2-40B4-BE49-F238E27FC236}">
                    <a16:creationId xmlns:a16="http://schemas.microsoft.com/office/drawing/2014/main" id="{A2BDBF27-D682-ED93-F467-AD1F71C4BD93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rot="10800000">
                <a:off x="2973239" y="3985405"/>
                <a:ext cx="3715037" cy="1591701"/>
              </a:xfrm>
              <a:prstGeom prst="bentConnector3">
                <a:avLst>
                  <a:gd name="adj1" fmla="val 55728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or: Elbow 19">
                <a:extLst>
                  <a:ext uri="{FF2B5EF4-FFF2-40B4-BE49-F238E27FC236}">
                    <a16:creationId xmlns:a16="http://schemas.microsoft.com/office/drawing/2014/main" id="{F42AE1AB-BC90-4D03-2194-3010A2E82CC8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rot="10800000" flipV="1">
                <a:off x="3709359" y="5577104"/>
                <a:ext cx="2978917" cy="1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83F418C6-B82E-B3FB-6E07-17AB746BCBC2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rot="10800000">
              <a:off x="3709357" y="4422477"/>
              <a:ext cx="2978918" cy="1154628"/>
            </a:xfrm>
            <a:prstGeom prst="bentConnector3">
              <a:avLst>
                <a:gd name="adj1" fmla="val 6930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6165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AC8E-1780-E81C-5DAE-0CB6B3CA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i="1" dirty="0"/>
              <a:t>Troublesome</a:t>
            </a:r>
            <a:r>
              <a:rPr lang="en-IE" dirty="0"/>
              <a:t> Class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FF555-F5B3-C59C-D9F8-64156633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house</a:t>
            </a:r>
          </a:p>
          <a:p>
            <a:pPr lvl="1"/>
            <a:r>
              <a:rPr lang="en-IE" sz="3200" dirty="0"/>
              <a:t>Address</a:t>
            </a:r>
          </a:p>
          <a:p>
            <a:pPr lvl="1"/>
            <a:r>
              <a:rPr lang="en-IE" sz="3200" dirty="0" err="1"/>
              <a:t>Customer_Data</a:t>
            </a:r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Houses</a:t>
            </a:r>
          </a:p>
          <a:p>
            <a:pPr lvl="1"/>
            <a:r>
              <a:rPr lang="en-IE" sz="3200" dirty="0"/>
              <a:t>Car</a:t>
            </a:r>
          </a:p>
          <a:p>
            <a:pPr lvl="1"/>
            <a:r>
              <a:rPr lang="en-IE" sz="3200" dirty="0"/>
              <a:t>furniture</a:t>
            </a:r>
          </a:p>
          <a:p>
            <a:pPr lvl="1"/>
            <a:r>
              <a:rPr lang="en-IE" sz="3200" dirty="0" err="1"/>
              <a:t>Buildingblock</a:t>
            </a:r>
            <a:endParaRPr lang="en-IE" sz="3200" dirty="0"/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Orders</a:t>
            </a:r>
          </a:p>
          <a:p>
            <a:pPr lvl="1"/>
            <a:r>
              <a:rPr lang="en-IE" sz="3200" dirty="0"/>
              <a:t>Loaning</a:t>
            </a:r>
          </a:p>
          <a:p>
            <a:pPr lvl="1"/>
            <a:r>
              <a:rPr lang="en-IE" sz="3200" dirty="0" err="1"/>
              <a:t>motorFactory</a:t>
            </a:r>
            <a:endParaRPr lang="en-IE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43BF1E-AB29-A0F5-6FF1-5DBA48E9FA00}"/>
              </a:ext>
            </a:extLst>
          </p:cNvPr>
          <p:cNvSpPr/>
          <p:nvPr/>
        </p:nvSpPr>
        <p:spPr>
          <a:xfrm>
            <a:off x="6014336" y="3007744"/>
            <a:ext cx="5141344" cy="26224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>
                <a:solidFill>
                  <a:srgbClr val="FF0000"/>
                </a:solidFill>
              </a:rPr>
              <a:t>These end in “s”</a:t>
            </a:r>
          </a:p>
          <a:p>
            <a:r>
              <a:rPr lang="en-IE" sz="2000" dirty="0">
                <a:solidFill>
                  <a:schemeClr val="tx1"/>
                </a:solidFill>
              </a:rPr>
              <a:t>This is only ok if there is somehow a way for a single instance of this to store data on multiple of this type.</a:t>
            </a:r>
          </a:p>
          <a:p>
            <a:pPr algn="ctr"/>
            <a:endParaRPr lang="en-IE" sz="2000" dirty="0">
              <a:solidFill>
                <a:schemeClr val="tx1"/>
              </a:solidFill>
            </a:endParaRPr>
          </a:p>
          <a:p>
            <a:r>
              <a:rPr lang="en-IE" sz="2000" dirty="0">
                <a:solidFill>
                  <a:schemeClr val="tx1"/>
                </a:solidFill>
              </a:rPr>
              <a:t>Usually this is a variable name, not a class name. It would be used for a collection (e.g. list, dictionary, tuple) of that type of entity</a:t>
            </a:r>
          </a:p>
        </p:txBody>
      </p:sp>
    </p:spTree>
    <p:extLst>
      <p:ext uri="{BB962C8B-B14F-4D97-AF65-F5344CB8AC3E}">
        <p14:creationId xmlns:p14="http://schemas.microsoft.com/office/powerpoint/2010/main" val="410014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7AA3-E5E2-E361-B14F-1789181B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Inserting Attributes: </a:t>
            </a:r>
            <a:br>
              <a:rPr lang="en-IE" dirty="0"/>
            </a:br>
            <a:r>
              <a:rPr lang="en-IE" dirty="0"/>
              <a:t>Adding Detail to the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0BC5-8BF5-FD54-7B4E-90EC60AB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2530733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We can define what information is included about a House (its </a:t>
            </a:r>
            <a:r>
              <a:rPr lang="en-IE" sz="3200" i="1" dirty="0"/>
              <a:t>state</a:t>
            </a:r>
            <a:r>
              <a:rPr lang="en-IE" sz="3200" dirty="0"/>
              <a:t>) by adding </a:t>
            </a:r>
            <a:r>
              <a:rPr lang="en-IE" sz="3200" dirty="0">
                <a:solidFill>
                  <a:srgbClr val="FF0000"/>
                </a:solidFill>
              </a:rPr>
              <a:t>attributes</a:t>
            </a:r>
            <a:r>
              <a:rPr lang="en-IE" sz="3200" dirty="0"/>
              <a:t> to the class</a:t>
            </a:r>
          </a:p>
          <a:p>
            <a:pPr lvl="2"/>
            <a:r>
              <a:rPr lang="en-IE" sz="2800" dirty="0"/>
              <a:t>Attribute: A variable within the class </a:t>
            </a:r>
            <a:r>
              <a:rPr lang="en-IE" sz="2800" u="sng" dirty="0"/>
              <a:t>not</a:t>
            </a:r>
            <a:r>
              <a:rPr lang="en-IE" sz="2800" dirty="0"/>
              <a:t> defined within a method</a:t>
            </a:r>
          </a:p>
          <a:p>
            <a:pPr lvl="1"/>
            <a:endParaRPr lang="en-IE" sz="1300" dirty="0"/>
          </a:p>
          <a:p>
            <a:pPr lvl="1"/>
            <a:r>
              <a:rPr lang="en-IE" sz="3200" dirty="0"/>
              <a:t>Attributes are defined at the top of the class</a:t>
            </a:r>
          </a:p>
          <a:p>
            <a:pPr lvl="2"/>
            <a:r>
              <a:rPr lang="en-IE" sz="2800" dirty="0"/>
              <a:t>Should appear directly underneath the class signature</a:t>
            </a:r>
          </a:p>
          <a:p>
            <a:pPr lvl="1"/>
            <a:endParaRPr lang="en-IE" sz="1200" dirty="0"/>
          </a:p>
          <a:p>
            <a:pPr lvl="1"/>
            <a:r>
              <a:rPr lang="en-IE" sz="3200" dirty="0"/>
              <a:t>We can give each attribute a default value when we define it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62C52B-C1AA-C8CC-78A6-418C3AF8A3FA}"/>
              </a:ext>
            </a:extLst>
          </p:cNvPr>
          <p:cNvSpPr/>
          <p:nvPr/>
        </p:nvSpPr>
        <p:spPr>
          <a:xfrm>
            <a:off x="1298562" y="4795598"/>
            <a:ext cx="1777042" cy="10316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Now every house has bay windows!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941E90-EDFF-F2A2-D606-C81801D68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885" y="4305714"/>
            <a:ext cx="4949190" cy="193032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C4179B-B019-2B9B-CD21-69263AD9A740}"/>
              </a:ext>
            </a:extLst>
          </p:cNvPr>
          <p:cNvSpPr/>
          <p:nvPr/>
        </p:nvSpPr>
        <p:spPr>
          <a:xfrm>
            <a:off x="6797615" y="6234873"/>
            <a:ext cx="5264182" cy="5414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700" dirty="0"/>
              <a:t>Full code: </a:t>
            </a:r>
            <a:r>
              <a:rPr lang="en-IE" sz="1700" dirty="0" err="1"/>
              <a:t>slide_examples</a:t>
            </a:r>
            <a:r>
              <a:rPr lang="en-IE" sz="1700" dirty="0"/>
              <a:t>/</a:t>
            </a:r>
            <a:r>
              <a:rPr lang="en-IE" sz="1700" dirty="0" err="1"/>
              <a:t>introducing_classes</a:t>
            </a:r>
            <a:r>
              <a:rPr lang="en-IE" sz="1700" dirty="0"/>
              <a:t>/entities/House.java</a:t>
            </a:r>
          </a:p>
        </p:txBody>
      </p:sp>
    </p:spTree>
    <p:extLst>
      <p:ext uri="{BB962C8B-B14F-4D97-AF65-F5344CB8AC3E}">
        <p14:creationId xmlns:p14="http://schemas.microsoft.com/office/powerpoint/2010/main" val="1218134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A536-2D62-A180-C3E1-FA07E10FD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Terminology Check: </a:t>
            </a:r>
            <a:br>
              <a:rPr lang="en-IE" dirty="0"/>
            </a:br>
            <a:r>
              <a:rPr lang="en-IE" dirty="0"/>
              <a:t>Instances and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6D9F-10DC-CB92-AE52-ED13AC5D9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316350" cy="4023360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n-IE" sz="3200" dirty="0"/>
              <a:t>Instance: a single copy of a class</a:t>
            </a:r>
          </a:p>
          <a:p>
            <a:pPr lvl="2"/>
            <a:r>
              <a:rPr lang="en-IE" sz="2800" dirty="0"/>
              <a:t>An object built using that class’s structure/blueprint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Each instance contains its </a:t>
            </a:r>
            <a:r>
              <a:rPr lang="en-IE" sz="3200" u="sng" dirty="0"/>
              <a:t>own</a:t>
            </a:r>
            <a:r>
              <a:rPr lang="en-IE" sz="3200" dirty="0"/>
              <a:t> set of attributes</a:t>
            </a:r>
          </a:p>
          <a:p>
            <a:pPr lvl="2"/>
            <a:r>
              <a:rPr lang="en-IE" sz="2800" dirty="0"/>
              <a:t>These are known as </a:t>
            </a:r>
            <a:r>
              <a:rPr lang="en-IE" sz="2800" b="1" dirty="0">
                <a:solidFill>
                  <a:srgbClr val="FF0000"/>
                </a:solidFill>
              </a:rPr>
              <a:t>instance variables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Instance variables are </a:t>
            </a:r>
            <a:r>
              <a:rPr lang="en-IE" sz="3200" b="1" u="sng" dirty="0"/>
              <a:t>not shared </a:t>
            </a:r>
          </a:p>
          <a:p>
            <a:pPr lvl="2"/>
            <a:r>
              <a:rPr lang="en-IE" sz="2800" dirty="0"/>
              <a:t>Each instance variable belongs to a </a:t>
            </a:r>
            <a:r>
              <a:rPr lang="en-IE" sz="2800" i="1" dirty="0"/>
              <a:t>specific</a:t>
            </a:r>
            <a:r>
              <a:rPr lang="en-IE" sz="2800" dirty="0"/>
              <a:t> instance</a:t>
            </a:r>
          </a:p>
          <a:p>
            <a:pPr lvl="2"/>
            <a:r>
              <a:rPr lang="en-IE" sz="2800" dirty="0"/>
              <a:t>If </a:t>
            </a:r>
            <a:r>
              <a:rPr lang="en-IE" sz="2800" dirty="0" err="1"/>
              <a:t>houseA</a:t>
            </a:r>
            <a:r>
              <a:rPr lang="en-IE" sz="2800" dirty="0"/>
              <a:t> changes its colour, </a:t>
            </a:r>
            <a:r>
              <a:rPr lang="en-IE" sz="2800" dirty="0" err="1"/>
              <a:t>houseB</a:t>
            </a:r>
            <a:r>
              <a:rPr lang="en-IE" sz="2800" dirty="0"/>
              <a:t> won’t be affected</a:t>
            </a:r>
          </a:p>
        </p:txBody>
      </p:sp>
      <p:pic>
        <p:nvPicPr>
          <p:cNvPr id="4" name="Picture 3" descr="seagulls - finding nemo">
            <a:extLst>
              <a:ext uri="{FF2B5EF4-FFF2-40B4-BE49-F238E27FC236}">
                <a16:creationId xmlns:a16="http://schemas.microsoft.com/office/drawing/2014/main" id="{5ECE366C-2D19-AD16-8EE4-8D4A01D54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858" y="2164337"/>
            <a:ext cx="2473822" cy="338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71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3C76-8EFA-19CF-B7FE-37FB82F0E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an Instance: </a:t>
            </a:r>
            <a:br>
              <a:rPr lang="en-IE" dirty="0"/>
            </a:br>
            <a:r>
              <a:rPr lang="en-IE" dirty="0"/>
              <a:t>Building a House in 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10899-F31C-36F0-B428-B59E7967E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346704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House class defines a </a:t>
            </a:r>
            <a:r>
              <a:rPr lang="en-IE" sz="3200" dirty="0">
                <a:solidFill>
                  <a:srgbClr val="FF0000"/>
                </a:solidFill>
              </a:rPr>
              <a:t>new type </a:t>
            </a:r>
            <a:r>
              <a:rPr lang="en-IE" sz="3200" dirty="0"/>
              <a:t>in Java</a:t>
            </a:r>
          </a:p>
          <a:p>
            <a:pPr lvl="2"/>
            <a:r>
              <a:rPr lang="en-IE" sz="2800" dirty="0"/>
              <a:t>We can use that type to store and work with information just as we do int, double, String, ArrayList etc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To make a House object/</a:t>
            </a:r>
            <a:r>
              <a:rPr lang="en-IE" sz="3200" b="1" dirty="0"/>
              <a:t>instance</a:t>
            </a:r>
            <a:r>
              <a:rPr lang="en-IE" sz="3200" dirty="0"/>
              <a:t> in our code, we need to: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IE" sz="2800" dirty="0"/>
              <a:t>Import the class (classes are built in their own individual files, one for each class)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IE" sz="2800" dirty="0"/>
              <a:t>Create a variable </a:t>
            </a:r>
            <a:r>
              <a:rPr lang="en-IE" sz="2800" b="1" dirty="0"/>
              <a:t>of that type </a:t>
            </a:r>
            <a:r>
              <a:rPr lang="en-IE" sz="2800" dirty="0"/>
              <a:t>using the name of the class:</a:t>
            </a:r>
          </a:p>
          <a:p>
            <a:pPr lvl="1"/>
            <a:endParaRPr lang="en-IE" sz="3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29D896-3C2C-F125-C98B-816DE8EFC409}"/>
              </a:ext>
            </a:extLst>
          </p:cNvPr>
          <p:cNvSpPr/>
          <p:nvPr/>
        </p:nvSpPr>
        <p:spPr>
          <a:xfrm>
            <a:off x="63260" y="5937197"/>
            <a:ext cx="5727940" cy="5414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700" dirty="0"/>
              <a:t>Full code: </a:t>
            </a:r>
            <a:r>
              <a:rPr lang="en-IE" sz="1700" dirty="0" err="1"/>
              <a:t>slide_examples</a:t>
            </a:r>
            <a:r>
              <a:rPr lang="en-IE" sz="1700" dirty="0"/>
              <a:t>/</a:t>
            </a:r>
            <a:r>
              <a:rPr lang="en-IE" sz="1700" dirty="0" err="1"/>
              <a:t>introducing_classes</a:t>
            </a:r>
            <a:r>
              <a:rPr lang="en-IE" sz="1700" dirty="0"/>
              <a:t>/apps/HouseTestBed.java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6742EA-D9F9-1811-B63B-02D09C5F3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908" y="4100423"/>
            <a:ext cx="7098888" cy="1723822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7FB09A0-B91A-A603-4BE8-4E8E15D442FB}"/>
              </a:ext>
            </a:extLst>
          </p:cNvPr>
          <p:cNvCxnSpPr>
            <a:cxnSpLocks/>
          </p:cNvCxnSpPr>
          <p:nvPr/>
        </p:nvCxnSpPr>
        <p:spPr>
          <a:xfrm>
            <a:off x="1931204" y="3536830"/>
            <a:ext cx="1230704" cy="701615"/>
          </a:xfrm>
          <a:prstGeom prst="bentConnector3">
            <a:avLst>
              <a:gd name="adj1" fmla="val -98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E32EE5-0FAE-6944-4833-91C4CE2A8FF2}"/>
              </a:ext>
            </a:extLst>
          </p:cNvPr>
          <p:cNvGrpSpPr/>
          <p:nvPr/>
        </p:nvGrpSpPr>
        <p:grpSpPr>
          <a:xfrm>
            <a:off x="7769530" y="3870384"/>
            <a:ext cx="3386150" cy="1846052"/>
            <a:chOff x="7769530" y="3887637"/>
            <a:chExt cx="3386150" cy="1846052"/>
          </a:xfrm>
        </p:grpSpPr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5FFBDD18-F7C7-A64C-BFB3-86C346E4344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769530" y="3887637"/>
              <a:ext cx="3324041" cy="1846052"/>
            </a:xfrm>
            <a:prstGeom prst="bentConnector3">
              <a:avLst>
                <a:gd name="adj1" fmla="val -242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89F833-7766-A511-19ED-9F0B1515D2B2}"/>
                </a:ext>
              </a:extLst>
            </p:cNvPr>
            <p:cNvCxnSpPr/>
            <p:nvPr/>
          </p:nvCxnSpPr>
          <p:spPr>
            <a:xfrm flipH="1">
              <a:off x="8597660" y="3887637"/>
              <a:ext cx="255802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6873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5CAB5A-A7BC-7900-BB67-7FE493AC0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54" y="4402536"/>
            <a:ext cx="9971180" cy="16207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CEAB3F-AB31-BDA4-38C5-EEDAED6E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Changing Attributes: </a:t>
            </a:r>
            <a:br>
              <a:rPr lang="en-IE" dirty="0"/>
            </a:br>
            <a:r>
              <a:rPr lang="en-IE" dirty="0"/>
              <a:t>Customising Our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79AAB-9B3D-DF80-38BA-0FD0C352E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719827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Problem: The information inside the house isn’t changing</a:t>
            </a:r>
          </a:p>
          <a:p>
            <a:pPr lvl="2"/>
            <a:r>
              <a:rPr lang="en-IE" sz="2800" dirty="0"/>
              <a:t>Blueprint should define the </a:t>
            </a:r>
            <a:r>
              <a:rPr lang="en-IE" sz="2800" u="sng" dirty="0"/>
              <a:t>general shape</a:t>
            </a:r>
          </a:p>
          <a:p>
            <a:pPr lvl="2"/>
            <a:r>
              <a:rPr lang="en-IE" sz="2800" dirty="0"/>
              <a:t>Details should be able to </a:t>
            </a:r>
            <a:r>
              <a:rPr lang="en-IE" sz="2800" dirty="0">
                <a:solidFill>
                  <a:srgbClr val="FF0000"/>
                </a:solidFill>
              </a:rPr>
              <a:t>change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To change the details of a House, we can reset them</a:t>
            </a:r>
          </a:p>
          <a:p>
            <a:pPr lvl="2"/>
            <a:r>
              <a:rPr lang="en-IE" sz="2800" dirty="0"/>
              <a:t>We do this using </a:t>
            </a:r>
            <a:r>
              <a:rPr lang="en-IE" sz="2800" dirty="0" err="1">
                <a:latin typeface="Consolas" panose="020B0609020204030204" pitchFamily="49" charset="0"/>
              </a:rPr>
              <a:t>object_name</a:t>
            </a:r>
            <a:r>
              <a:rPr lang="en-IE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  <a:r>
              <a:rPr lang="en-IE" sz="2800" dirty="0" err="1">
                <a:latin typeface="Consolas" panose="020B0609020204030204" pitchFamily="49" charset="0"/>
              </a:rPr>
              <a:t>attribute_name</a:t>
            </a:r>
            <a:endParaRPr lang="en-IE" sz="2800" dirty="0">
              <a:latin typeface="Consolas" panose="020B0609020204030204" pitchFamily="49" charset="0"/>
            </a:endParaRPr>
          </a:p>
          <a:p>
            <a:pPr lvl="2"/>
            <a:endParaRPr lang="en-IE" sz="2800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8159B4F-4B7E-0768-1B14-3998BA5C2FD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30792" y="4128491"/>
            <a:ext cx="4301708" cy="1339524"/>
          </a:xfrm>
          <a:prstGeom prst="bentConnector3">
            <a:avLst>
              <a:gd name="adj1" fmla="val -46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E7A699-91CC-D7CF-993C-8E97C52B1518}"/>
              </a:ext>
            </a:extLst>
          </p:cNvPr>
          <p:cNvSpPr/>
          <p:nvPr/>
        </p:nvSpPr>
        <p:spPr>
          <a:xfrm>
            <a:off x="10213197" y="4448666"/>
            <a:ext cx="1817298" cy="920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Same notation to access/view information!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B1F6F1-E938-60A9-1875-369B41133FDE}"/>
              </a:ext>
            </a:extLst>
          </p:cNvPr>
          <p:cNvGrpSpPr/>
          <p:nvPr/>
        </p:nvGrpSpPr>
        <p:grpSpPr>
          <a:xfrm>
            <a:off x="7861541" y="5369505"/>
            <a:ext cx="3260306" cy="772506"/>
            <a:chOff x="8402128" y="5323497"/>
            <a:chExt cx="2719718" cy="772506"/>
          </a:xfrm>
        </p:grpSpPr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A69CB668-0B94-5A26-DA9C-12F1483300A8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rot="5400000">
              <a:off x="9375734" y="4349891"/>
              <a:ext cx="772506" cy="271971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28802F-1E5A-5500-47E6-B6045CAD41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2136" y="5917720"/>
              <a:ext cx="0" cy="1725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FF8D2E-FD04-D8F7-DAB2-2E81998B1F48}"/>
              </a:ext>
            </a:extLst>
          </p:cNvPr>
          <p:cNvSpPr/>
          <p:nvPr/>
        </p:nvSpPr>
        <p:spPr>
          <a:xfrm>
            <a:off x="80512" y="6297283"/>
            <a:ext cx="5610143" cy="414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700" dirty="0" err="1"/>
              <a:t>slide_examples</a:t>
            </a:r>
            <a:r>
              <a:rPr lang="en-IE" sz="1700" dirty="0"/>
              <a:t>/</a:t>
            </a:r>
            <a:r>
              <a:rPr lang="en-IE" sz="1700" dirty="0" err="1"/>
              <a:t>introducing_classes</a:t>
            </a:r>
            <a:r>
              <a:rPr lang="en-IE" sz="1700" dirty="0"/>
              <a:t>/apps/HouseTestBed.java</a:t>
            </a:r>
          </a:p>
        </p:txBody>
      </p:sp>
    </p:spTree>
    <p:extLst>
      <p:ext uri="{BB962C8B-B14F-4D97-AF65-F5344CB8AC3E}">
        <p14:creationId xmlns:p14="http://schemas.microsoft.com/office/powerpoint/2010/main" val="2840837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A366-02FC-A4D3-50DC-2EAFAF16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Behaviour and Classes: </a:t>
            </a:r>
            <a:br>
              <a:rPr lang="en-IE" dirty="0"/>
            </a:br>
            <a:r>
              <a:rPr lang="en-IE" dirty="0"/>
              <a:t>Introducing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F2DDF-77E4-8142-FE42-CCD2AC0B5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869105" cy="4023360"/>
          </a:xfrm>
        </p:spPr>
        <p:txBody>
          <a:bodyPr>
            <a:normAutofit lnSpcReduction="10000"/>
          </a:bodyPr>
          <a:lstStyle/>
          <a:p>
            <a:pPr lvl="1"/>
            <a:r>
              <a:rPr lang="en-IE" sz="3200" dirty="0"/>
              <a:t>Classes dictate a class’s </a:t>
            </a:r>
            <a:r>
              <a:rPr lang="en-IE" sz="3200" b="1" u="sng" dirty="0">
                <a:solidFill>
                  <a:srgbClr val="FF0000"/>
                </a:solidFill>
              </a:rPr>
              <a:t>attributes</a:t>
            </a:r>
          </a:p>
          <a:p>
            <a:pPr lvl="2"/>
            <a:r>
              <a:rPr lang="en-IE" sz="2800" dirty="0"/>
              <a:t>What information can be stored (its state); its variables</a:t>
            </a:r>
          </a:p>
          <a:p>
            <a:pPr lvl="1"/>
            <a:r>
              <a:rPr lang="en-IE" sz="3200" dirty="0"/>
              <a:t>Classes also dictate a class’s </a:t>
            </a:r>
            <a:r>
              <a:rPr lang="en-IE" sz="3200" b="1" u="sng" dirty="0">
                <a:solidFill>
                  <a:srgbClr val="FF0000"/>
                </a:solidFill>
              </a:rPr>
              <a:t>behaviour</a:t>
            </a:r>
          </a:p>
          <a:p>
            <a:pPr lvl="2"/>
            <a:r>
              <a:rPr lang="en-IE" sz="2800" dirty="0"/>
              <a:t>What that class can DO; its methods</a:t>
            </a:r>
          </a:p>
          <a:p>
            <a:pPr lvl="2"/>
            <a:endParaRPr lang="en-IE" sz="2800" dirty="0"/>
          </a:p>
          <a:p>
            <a:pPr lvl="1"/>
            <a:r>
              <a:rPr lang="en-IE" sz="3200" i="1" u="sng" dirty="0"/>
              <a:t>Usually</a:t>
            </a:r>
            <a:r>
              <a:rPr lang="en-IE" sz="3200" dirty="0"/>
              <a:t> no static keyword in the method signature</a:t>
            </a:r>
          </a:p>
          <a:p>
            <a:pPr lvl="2"/>
            <a:r>
              <a:rPr lang="en-IE" sz="2800" dirty="0"/>
              <a:t>We’re currently dealing with </a:t>
            </a:r>
            <a:r>
              <a:rPr lang="en-IE" sz="2800" u="sng" dirty="0"/>
              <a:t>instance</a:t>
            </a:r>
            <a:r>
              <a:rPr lang="en-IE" sz="2800" dirty="0"/>
              <a:t> methods – one copy for each object</a:t>
            </a:r>
          </a:p>
          <a:p>
            <a:pPr lvl="2"/>
            <a:r>
              <a:rPr lang="en-IE" sz="2800" dirty="0"/>
              <a:t>We’ll revisit static later…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A37E76-05C9-4B05-98C4-D96B94DEC0E5}"/>
              </a:ext>
            </a:extLst>
          </p:cNvPr>
          <p:cNvGrpSpPr/>
          <p:nvPr/>
        </p:nvGrpSpPr>
        <p:grpSpPr>
          <a:xfrm>
            <a:off x="9711412" y="3865535"/>
            <a:ext cx="2288876" cy="2288876"/>
            <a:chOff x="9711412" y="3865535"/>
            <a:chExt cx="2288876" cy="2288876"/>
          </a:xfrm>
        </p:grpSpPr>
        <p:pic>
          <p:nvPicPr>
            <p:cNvPr id="4" name="Picture 3" descr="sharing is caring clip art #5933118 | Clipart Library">
              <a:extLst>
                <a:ext uri="{FF2B5EF4-FFF2-40B4-BE49-F238E27FC236}">
                  <a16:creationId xmlns:a16="http://schemas.microsoft.com/office/drawing/2014/main" id="{3E9C8AA6-1D6A-6DAB-7C0C-8A1DCA13B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03342" y="3991971"/>
              <a:ext cx="2070510" cy="2070510"/>
            </a:xfrm>
            <a:prstGeom prst="rect">
              <a:avLst/>
            </a:prstGeom>
          </p:spPr>
        </p:pic>
        <p:pic>
          <p:nvPicPr>
            <p:cNvPr id="9" name="Picture 8" descr="Transparent No Symbol PNGs for Free Download">
              <a:extLst>
                <a:ext uri="{FF2B5EF4-FFF2-40B4-BE49-F238E27FC236}">
                  <a16:creationId xmlns:a16="http://schemas.microsoft.com/office/drawing/2014/main" id="{6F45BEAC-D100-282C-9BAC-F764319E8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9711412" y="3865535"/>
              <a:ext cx="2288876" cy="2288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19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962E-1673-6E2D-1425-C9D5B27C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When We Use 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49BA2-DF00-D07B-0513-CFF3809A6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600" dirty="0"/>
              <a:t>static makes things shared</a:t>
            </a:r>
          </a:p>
          <a:p>
            <a:pPr lvl="2"/>
            <a:r>
              <a:rPr lang="en-IE" sz="2800" dirty="0"/>
              <a:t>Each object shares a SINGLE copy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4CAED0-D8AC-A39D-278A-D579B0A9997D}"/>
              </a:ext>
            </a:extLst>
          </p:cNvPr>
          <p:cNvGrpSpPr/>
          <p:nvPr/>
        </p:nvGrpSpPr>
        <p:grpSpPr>
          <a:xfrm>
            <a:off x="668896" y="3485701"/>
            <a:ext cx="3685461" cy="2937390"/>
            <a:chOff x="668896" y="3485701"/>
            <a:chExt cx="3685461" cy="293739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2E25BFF-5600-FE29-060D-4A51F0432E99}"/>
                </a:ext>
              </a:extLst>
            </p:cNvPr>
            <p:cNvGrpSpPr/>
            <p:nvPr/>
          </p:nvGrpSpPr>
          <p:grpSpPr>
            <a:xfrm>
              <a:off x="668896" y="3485701"/>
              <a:ext cx="3604053" cy="1017281"/>
              <a:chOff x="668896" y="4187323"/>
              <a:chExt cx="3604053" cy="1017281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CFC65755-972B-8100-4C59-97A274DA6C49}"/>
                  </a:ext>
                </a:extLst>
              </p:cNvPr>
              <p:cNvGrpSpPr/>
              <p:nvPr/>
            </p:nvGrpSpPr>
            <p:grpSpPr>
              <a:xfrm>
                <a:off x="668896" y="4187323"/>
                <a:ext cx="3604053" cy="1017281"/>
                <a:chOff x="668896" y="4187323"/>
                <a:chExt cx="3604053" cy="1017281"/>
              </a:xfrm>
            </p:grpSpPr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3411830B-60C0-C1DD-EA85-353C2F7D25C4}"/>
                    </a:ext>
                  </a:extLst>
                </p:cNvPr>
                <p:cNvSpPr/>
                <p:nvPr/>
              </p:nvSpPr>
              <p:spPr>
                <a:xfrm>
                  <a:off x="1892058" y="4187323"/>
                  <a:ext cx="2380891" cy="1017281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IE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windowType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= “Bay”</a:t>
                  </a:r>
                </a:p>
                <a:p>
                  <a:r>
                    <a:rPr lang="en-IE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numRooms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 = 20 </a:t>
                  </a:r>
                </a:p>
                <a:p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colour  = “Blue”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EFFBC4D-54B7-A516-55EC-BF4CDCF1BCC2}"/>
                    </a:ext>
                  </a:extLst>
                </p:cNvPr>
                <p:cNvSpPr txBox="1"/>
                <p:nvPr/>
              </p:nvSpPr>
              <p:spPr>
                <a:xfrm>
                  <a:off x="668896" y="4364966"/>
                  <a:ext cx="8723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E" dirty="0"/>
                    <a:t>house1</a:t>
                  </a:r>
                </a:p>
              </p:txBody>
            </p:sp>
          </p:grp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F18E929-07AD-59AA-35A4-E4DEA4D5AD28}"/>
                  </a:ext>
                </a:extLst>
              </p:cNvPr>
              <p:cNvCxnSpPr>
                <a:stCxn id="5" idx="3"/>
              </p:cNvCxnSpPr>
              <p:nvPr/>
            </p:nvCxnSpPr>
            <p:spPr>
              <a:xfrm flipV="1">
                <a:off x="1541251" y="4520242"/>
                <a:ext cx="350807" cy="293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6BA3BC-FE20-AAA8-2CE7-47F4EF21AC50}"/>
                </a:ext>
              </a:extLst>
            </p:cNvPr>
            <p:cNvSpPr txBox="1"/>
            <p:nvPr/>
          </p:nvSpPr>
          <p:spPr>
            <a:xfrm>
              <a:off x="1329362" y="4668765"/>
              <a:ext cx="302499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House house1 = new House();</a:t>
              </a:r>
            </a:p>
            <a:p>
              <a:r>
                <a:rPr lang="en-IE" dirty="0"/>
                <a:t>house1.windowType = “Bay”</a:t>
              </a:r>
            </a:p>
            <a:p>
              <a:r>
                <a:rPr lang="en-IE" dirty="0"/>
                <a:t>house1.numRooms = 20</a:t>
              </a:r>
            </a:p>
            <a:p>
              <a:r>
                <a:rPr lang="en-IE" dirty="0"/>
                <a:t>house1.colour = “Blue”</a:t>
              </a:r>
            </a:p>
            <a:p>
              <a:endParaRPr lang="en-IE" dirty="0"/>
            </a:p>
            <a:p>
              <a:r>
                <a:rPr lang="en-IE" dirty="0"/>
                <a:t>house1.display()</a:t>
              </a: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FF286E-DDA2-ACDE-E67B-380D785BAEF7}"/>
              </a:ext>
            </a:extLst>
          </p:cNvPr>
          <p:cNvSpPr/>
          <p:nvPr/>
        </p:nvSpPr>
        <p:spPr>
          <a:xfrm>
            <a:off x="4701333" y="3145759"/>
            <a:ext cx="2688630" cy="10639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House:</a:t>
            </a:r>
          </a:p>
          <a:p>
            <a:endParaRPr lang="en-IE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public </a:t>
            </a:r>
            <a:r>
              <a:rPr lang="en-IE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static</a:t>
            </a:r>
            <a:r>
              <a:rPr lang="en-I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void display()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8059AF-BD95-02FD-75D3-407442F612D5}"/>
              </a:ext>
            </a:extLst>
          </p:cNvPr>
          <p:cNvGrpSpPr/>
          <p:nvPr/>
        </p:nvGrpSpPr>
        <p:grpSpPr>
          <a:xfrm>
            <a:off x="7630354" y="3480759"/>
            <a:ext cx="3892750" cy="2937390"/>
            <a:chOff x="893185" y="3485701"/>
            <a:chExt cx="3892750" cy="293739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C95E03-86DE-F3B4-F2A3-7FF1133996ED}"/>
                </a:ext>
              </a:extLst>
            </p:cNvPr>
            <p:cNvGrpSpPr/>
            <p:nvPr/>
          </p:nvGrpSpPr>
          <p:grpSpPr>
            <a:xfrm>
              <a:off x="893185" y="3485701"/>
              <a:ext cx="3812237" cy="1017281"/>
              <a:chOff x="893185" y="4187323"/>
              <a:chExt cx="3812237" cy="101728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1473BB09-1F43-DE4F-FEEC-B82779965A91}"/>
                  </a:ext>
                </a:extLst>
              </p:cNvPr>
              <p:cNvGrpSpPr/>
              <p:nvPr/>
            </p:nvGrpSpPr>
            <p:grpSpPr>
              <a:xfrm>
                <a:off x="893185" y="4187323"/>
                <a:ext cx="3812237" cy="1017281"/>
                <a:chOff x="893185" y="4187323"/>
                <a:chExt cx="3812237" cy="1017281"/>
              </a:xfrm>
            </p:grpSpPr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C25666B4-EC95-1B49-48D5-C9FB6131DB1C}"/>
                    </a:ext>
                  </a:extLst>
                </p:cNvPr>
                <p:cNvSpPr/>
                <p:nvPr/>
              </p:nvSpPr>
              <p:spPr>
                <a:xfrm>
                  <a:off x="2116347" y="4187323"/>
                  <a:ext cx="2589075" cy="1017281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IE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windowType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= “Picture”</a:t>
                  </a:r>
                </a:p>
                <a:p>
                  <a:r>
                    <a:rPr lang="en-IE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numRooms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 = 10 </a:t>
                  </a:r>
                </a:p>
                <a:p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colour  = “Orange”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A9ADB39-E9D5-027F-09FB-D86FA09A2700}"/>
                    </a:ext>
                  </a:extLst>
                </p:cNvPr>
                <p:cNvSpPr txBox="1"/>
                <p:nvPr/>
              </p:nvSpPr>
              <p:spPr>
                <a:xfrm>
                  <a:off x="893185" y="4364966"/>
                  <a:ext cx="8723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E" dirty="0"/>
                    <a:t>house2</a:t>
                  </a:r>
                </a:p>
              </p:txBody>
            </p: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F822BCC5-1CC3-5264-F999-21ACF5BF2C27}"/>
                  </a:ext>
                </a:extLst>
              </p:cNvPr>
              <p:cNvCxnSpPr>
                <a:stCxn id="21" idx="3"/>
              </p:cNvCxnSpPr>
              <p:nvPr/>
            </p:nvCxnSpPr>
            <p:spPr>
              <a:xfrm flipV="1">
                <a:off x="1765540" y="4520242"/>
                <a:ext cx="350807" cy="293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CCD028-A352-3CE1-5D83-442A64D3BBAE}"/>
                </a:ext>
              </a:extLst>
            </p:cNvPr>
            <p:cNvSpPr txBox="1"/>
            <p:nvPr/>
          </p:nvSpPr>
          <p:spPr>
            <a:xfrm>
              <a:off x="1329362" y="4668765"/>
              <a:ext cx="345657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House house2 = new House();</a:t>
              </a:r>
            </a:p>
            <a:p>
              <a:r>
                <a:rPr lang="en-IE" dirty="0"/>
                <a:t>house2.windowType = “Picture”</a:t>
              </a:r>
            </a:p>
            <a:p>
              <a:r>
                <a:rPr lang="en-IE" dirty="0"/>
                <a:t>house2.numRooms = 10</a:t>
              </a:r>
            </a:p>
            <a:p>
              <a:r>
                <a:rPr lang="en-IE" dirty="0"/>
                <a:t>house2.colour = “Orange”</a:t>
              </a:r>
            </a:p>
            <a:p>
              <a:endParaRPr lang="en-IE" dirty="0"/>
            </a:p>
            <a:p>
              <a:r>
                <a:rPr lang="en-IE" dirty="0"/>
                <a:t>house2.display()</a:t>
              </a:r>
            </a:p>
          </p:txBody>
        </p:sp>
      </p:grp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F35212D-2A3D-84D8-AB6C-789BC48D529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044357" y="4209691"/>
            <a:ext cx="3001291" cy="20530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CC34E3F-DBF6-444E-3E24-790B544EDB66}"/>
              </a:ext>
            </a:extLst>
          </p:cNvPr>
          <p:cNvCxnSpPr>
            <a:cxnSpLocks/>
            <a:endCxn id="12" idx="2"/>
          </p:cNvCxnSpPr>
          <p:nvPr/>
        </p:nvCxnSpPr>
        <p:spPr>
          <a:xfrm rot="10800000">
            <a:off x="6045648" y="4209691"/>
            <a:ext cx="2074684" cy="20530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31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C7EC-11F9-E3E2-7DB5-31295A00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2EA2-580D-984F-BE5A-A219B7EB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When We DON’T Use 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55F3D-2BBF-C10C-43A6-D08630DC5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600" dirty="0"/>
              <a:t>Leaving out static makes an </a:t>
            </a:r>
            <a:r>
              <a:rPr lang="en-IE" sz="3600" i="1" dirty="0"/>
              <a:t>instance</a:t>
            </a:r>
            <a:r>
              <a:rPr lang="en-IE" sz="3600" dirty="0"/>
              <a:t> method</a:t>
            </a:r>
          </a:p>
          <a:p>
            <a:pPr lvl="2"/>
            <a:r>
              <a:rPr lang="en-IE" sz="2800" dirty="0"/>
              <a:t>Each object has its OWN copy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563856-E64D-9B5C-84BD-8946FD5CE8A4}"/>
              </a:ext>
            </a:extLst>
          </p:cNvPr>
          <p:cNvGrpSpPr/>
          <p:nvPr/>
        </p:nvGrpSpPr>
        <p:grpSpPr>
          <a:xfrm>
            <a:off x="668896" y="2927231"/>
            <a:ext cx="4309627" cy="3495860"/>
            <a:chOff x="668896" y="2927231"/>
            <a:chExt cx="4309627" cy="349586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1C6665B-FA94-326A-39BC-8DC97A30D3D7}"/>
                </a:ext>
              </a:extLst>
            </p:cNvPr>
            <p:cNvGrpSpPr/>
            <p:nvPr/>
          </p:nvGrpSpPr>
          <p:grpSpPr>
            <a:xfrm>
              <a:off x="668896" y="2927231"/>
              <a:ext cx="4309627" cy="1736592"/>
              <a:chOff x="668896" y="3628853"/>
              <a:chExt cx="4309627" cy="173659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E5CB1C6-3741-6D96-3333-730941780BB4}"/>
                  </a:ext>
                </a:extLst>
              </p:cNvPr>
              <p:cNvGrpSpPr/>
              <p:nvPr/>
            </p:nvGrpSpPr>
            <p:grpSpPr>
              <a:xfrm>
                <a:off x="668896" y="3628853"/>
                <a:ext cx="4309627" cy="1736592"/>
                <a:chOff x="668896" y="3628853"/>
                <a:chExt cx="4309627" cy="1736592"/>
              </a:xfrm>
            </p:grpSpPr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2BDCDDCE-33CE-4281-33A8-455A435158A6}"/>
                    </a:ext>
                  </a:extLst>
                </p:cNvPr>
                <p:cNvSpPr/>
                <p:nvPr/>
              </p:nvSpPr>
              <p:spPr>
                <a:xfrm>
                  <a:off x="1892058" y="3628853"/>
                  <a:ext cx="3086465" cy="173659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IE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windowType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= “Bay”</a:t>
                  </a:r>
                </a:p>
                <a:p>
                  <a:r>
                    <a:rPr lang="en-IE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numRooms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 = 20 </a:t>
                  </a:r>
                </a:p>
                <a:p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colour  = “Blue”</a:t>
                  </a:r>
                </a:p>
                <a:p>
                  <a:endPara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  <a:p>
                  <a:r>
                    <a:rPr lang="en-IE" dirty="0">
                      <a:solidFill>
                        <a:schemeClr val="accent2"/>
                      </a:solidFill>
                      <a:latin typeface="Consolas" panose="020B0609020204030204" pitchFamily="49" charset="0"/>
                    </a:rPr>
                    <a:t>public void display(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onsolas" panose="020B0609020204030204" pitchFamily="49" charset="0"/>
                    </a:rPr>
                    <a:t>)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3B53E4C-7537-143D-28BC-07AA65255288}"/>
                    </a:ext>
                  </a:extLst>
                </p:cNvPr>
                <p:cNvSpPr txBox="1"/>
                <p:nvPr/>
              </p:nvSpPr>
              <p:spPr>
                <a:xfrm>
                  <a:off x="668896" y="4364966"/>
                  <a:ext cx="8723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E" dirty="0"/>
                    <a:t>house1</a:t>
                  </a:r>
                </a:p>
              </p:txBody>
            </p:sp>
          </p:grp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4C696D0F-0010-217D-A937-FD44B517E2CE}"/>
                  </a:ext>
                </a:extLst>
              </p:cNvPr>
              <p:cNvCxnSpPr>
                <a:stCxn id="5" idx="3"/>
              </p:cNvCxnSpPr>
              <p:nvPr/>
            </p:nvCxnSpPr>
            <p:spPr>
              <a:xfrm flipV="1">
                <a:off x="1541251" y="4520242"/>
                <a:ext cx="350807" cy="293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C158337-1CC3-F879-19B2-29F205D4A156}"/>
                </a:ext>
              </a:extLst>
            </p:cNvPr>
            <p:cNvSpPr txBox="1"/>
            <p:nvPr/>
          </p:nvSpPr>
          <p:spPr>
            <a:xfrm>
              <a:off x="1329362" y="4668765"/>
              <a:ext cx="302499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House house1 = new House();</a:t>
              </a:r>
            </a:p>
            <a:p>
              <a:r>
                <a:rPr lang="en-IE" dirty="0"/>
                <a:t>house1.windowType = “Bay”</a:t>
              </a:r>
            </a:p>
            <a:p>
              <a:r>
                <a:rPr lang="en-IE" dirty="0"/>
                <a:t>house1.numRooms = 20</a:t>
              </a:r>
            </a:p>
            <a:p>
              <a:r>
                <a:rPr lang="en-IE" dirty="0"/>
                <a:t>house1.colour = “Blue”</a:t>
              </a:r>
            </a:p>
            <a:p>
              <a:endParaRPr lang="en-IE" dirty="0"/>
            </a:p>
            <a:p>
              <a:r>
                <a:rPr lang="en-IE" dirty="0"/>
                <a:t>house1.</a:t>
              </a:r>
              <a:r>
                <a:rPr lang="en-IE" dirty="0">
                  <a:solidFill>
                    <a:schemeClr val="accent2"/>
                  </a:solidFill>
                </a:rPr>
                <a:t>display</a:t>
              </a:r>
              <a:r>
                <a:rPr lang="en-IE" dirty="0"/>
                <a:t>()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F67239-0014-CA92-0673-2E6E2D7DDC99}"/>
              </a:ext>
            </a:extLst>
          </p:cNvPr>
          <p:cNvGrpSpPr/>
          <p:nvPr/>
        </p:nvGrpSpPr>
        <p:grpSpPr>
          <a:xfrm>
            <a:off x="6336385" y="2932982"/>
            <a:ext cx="5226457" cy="3490918"/>
            <a:chOff x="-257009" y="2932173"/>
            <a:chExt cx="5226457" cy="349091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227866-DA29-08DF-AE34-4FA0C7C7862F}"/>
                </a:ext>
              </a:extLst>
            </p:cNvPr>
            <p:cNvGrpSpPr/>
            <p:nvPr/>
          </p:nvGrpSpPr>
          <p:grpSpPr>
            <a:xfrm>
              <a:off x="-257009" y="2932173"/>
              <a:ext cx="5226457" cy="1736592"/>
              <a:chOff x="-257009" y="3633795"/>
              <a:chExt cx="5226457" cy="173659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952E808-E69B-5683-E073-61788B36EFF7}"/>
                  </a:ext>
                </a:extLst>
              </p:cNvPr>
              <p:cNvGrpSpPr/>
              <p:nvPr/>
            </p:nvGrpSpPr>
            <p:grpSpPr>
              <a:xfrm>
                <a:off x="-257009" y="3633795"/>
                <a:ext cx="5226457" cy="1736592"/>
                <a:chOff x="-257009" y="3633795"/>
                <a:chExt cx="5226457" cy="1736592"/>
              </a:xfrm>
            </p:grpSpPr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D60CEF87-AB7F-A5C4-DAC9-53EDCD462D9F}"/>
                    </a:ext>
                  </a:extLst>
                </p:cNvPr>
                <p:cNvSpPr/>
                <p:nvPr/>
              </p:nvSpPr>
              <p:spPr>
                <a:xfrm>
                  <a:off x="966153" y="3633795"/>
                  <a:ext cx="4003295" cy="173659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IE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windowType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= “Picture”</a:t>
                  </a:r>
                </a:p>
                <a:p>
                  <a:r>
                    <a:rPr lang="en-IE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numRooms</a:t>
                  </a:r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  = 10 </a:t>
                  </a:r>
                </a:p>
                <a:p>
                  <a:r>
                    <a:rPr lang="en-IE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colour  = “Orange”</a:t>
                  </a:r>
                </a:p>
                <a:p>
                  <a:endParaRPr lang="en-I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  <a:p>
                  <a:r>
                    <a:rPr lang="en-IE" dirty="0">
                      <a:solidFill>
                        <a:srgbClr val="C00000"/>
                      </a:solidFill>
                      <a:latin typeface="Consolas" panose="020B0609020204030204" pitchFamily="49" charset="0"/>
                    </a:rPr>
                    <a:t>public void display()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626322C-B63A-C79C-8593-173AA374A3BF}"/>
                    </a:ext>
                  </a:extLst>
                </p:cNvPr>
                <p:cNvSpPr txBox="1"/>
                <p:nvPr/>
              </p:nvSpPr>
              <p:spPr>
                <a:xfrm>
                  <a:off x="-257009" y="4364966"/>
                  <a:ext cx="87235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E" dirty="0"/>
                    <a:t>house2</a:t>
                  </a:r>
                </a:p>
              </p:txBody>
            </p: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CB4A4FA-B920-815B-E26C-C1CCB0FD4C3A}"/>
                  </a:ext>
                </a:extLst>
              </p:cNvPr>
              <p:cNvCxnSpPr>
                <a:stCxn id="21" idx="3"/>
              </p:cNvCxnSpPr>
              <p:nvPr/>
            </p:nvCxnSpPr>
            <p:spPr>
              <a:xfrm flipV="1">
                <a:off x="615346" y="4520242"/>
                <a:ext cx="350807" cy="293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4BA842-B7AB-C7B2-124C-CDCD0169104E}"/>
                </a:ext>
              </a:extLst>
            </p:cNvPr>
            <p:cNvSpPr txBox="1"/>
            <p:nvPr/>
          </p:nvSpPr>
          <p:spPr>
            <a:xfrm>
              <a:off x="1329362" y="4668765"/>
              <a:ext cx="345657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House house2 = new House();</a:t>
              </a:r>
            </a:p>
            <a:p>
              <a:r>
                <a:rPr lang="en-IE" dirty="0"/>
                <a:t>house2.windowType = “Picture”</a:t>
              </a:r>
            </a:p>
            <a:p>
              <a:r>
                <a:rPr lang="en-IE" dirty="0"/>
                <a:t>house2.numRooms = 10</a:t>
              </a:r>
            </a:p>
            <a:p>
              <a:r>
                <a:rPr lang="en-IE" dirty="0"/>
                <a:t>house2.colour = “Orange”</a:t>
              </a:r>
            </a:p>
            <a:p>
              <a:endParaRPr lang="en-IE" dirty="0"/>
            </a:p>
            <a:p>
              <a:r>
                <a:rPr lang="en-IE" dirty="0"/>
                <a:t>house2.</a:t>
              </a:r>
              <a:r>
                <a:rPr lang="en-IE" dirty="0">
                  <a:solidFill>
                    <a:srgbClr val="C00000"/>
                  </a:solidFill>
                </a:rPr>
                <a:t>display()</a:t>
              </a:r>
            </a:p>
          </p:txBody>
        </p:sp>
      </p:grp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C97DB13F-4CC9-D5EA-B95E-69E159ED3C45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10302" y="5122196"/>
            <a:ext cx="1880557" cy="343093"/>
          </a:xfrm>
          <a:prstGeom prst="bentConnector3">
            <a:avLst>
              <a:gd name="adj1" fmla="val 998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5DF6CBB-01BA-6187-C035-CC89BDA87652}"/>
              </a:ext>
            </a:extLst>
          </p:cNvPr>
          <p:cNvGrpSpPr/>
          <p:nvPr/>
        </p:nvGrpSpPr>
        <p:grpSpPr>
          <a:xfrm>
            <a:off x="7208740" y="4376468"/>
            <a:ext cx="714016" cy="1880558"/>
            <a:chOff x="7056408" y="4376468"/>
            <a:chExt cx="866348" cy="1880558"/>
          </a:xfrm>
        </p:grpSpPr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B5A92CA9-96FA-2F8C-D63C-259DF59A1DF7}"/>
                </a:ext>
              </a:extLst>
            </p:cNvPr>
            <p:cNvCxnSpPr/>
            <p:nvPr/>
          </p:nvCxnSpPr>
          <p:spPr>
            <a:xfrm rot="5400000" flipH="1" flipV="1">
              <a:off x="6426679" y="5011947"/>
              <a:ext cx="1880558" cy="609600"/>
            </a:xfrm>
            <a:prstGeom prst="bentConnector3">
              <a:avLst>
                <a:gd name="adj1" fmla="val 99541"/>
              </a:avLst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4C7713C-FC84-A948-6D37-D63B5E37FB70}"/>
                </a:ext>
              </a:extLst>
            </p:cNvPr>
            <p:cNvCxnSpPr/>
            <p:nvPr/>
          </p:nvCxnSpPr>
          <p:spPr>
            <a:xfrm flipH="1">
              <a:off x="7056408" y="6257026"/>
              <a:ext cx="866348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7DDB547-43CF-828F-68EB-C52EA7CCAC64}"/>
              </a:ext>
            </a:extLst>
          </p:cNvPr>
          <p:cNvCxnSpPr/>
          <p:nvPr/>
        </p:nvCxnSpPr>
        <p:spPr>
          <a:xfrm>
            <a:off x="3024996" y="6257026"/>
            <a:ext cx="2093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442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FD5D-FEF0-502C-2E2D-E157CB40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Adding Behaviour:</a:t>
            </a:r>
            <a:br>
              <a:rPr lang="en-IE" dirty="0"/>
            </a:br>
            <a:r>
              <a:rPr lang="en-IE" dirty="0"/>
              <a:t>Including Methods in our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12B38-0E6E-CD42-0B5F-88D150C8A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058839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Instance methods (methods belonging to an object, i.e. NOT static methods) are written in the same way as any other methods</a:t>
            </a:r>
          </a:p>
          <a:p>
            <a:pPr lvl="2"/>
            <a:r>
              <a:rPr lang="en-IE" sz="2400" dirty="0"/>
              <a:t>Must include a name and a return type</a:t>
            </a:r>
          </a:p>
          <a:p>
            <a:pPr lvl="2"/>
            <a:r>
              <a:rPr lang="en-IE" sz="2400" dirty="0"/>
              <a:t>MAY have parameters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We can use the </a:t>
            </a:r>
            <a:r>
              <a:rPr lang="en-IE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this</a:t>
            </a:r>
            <a:r>
              <a:rPr lang="en-IE" sz="3200" dirty="0"/>
              <a:t> keyword to indicate we’re using an instance variable</a:t>
            </a:r>
          </a:p>
          <a:p>
            <a:pPr lvl="2"/>
            <a:r>
              <a:rPr lang="en-IE" sz="2800" dirty="0"/>
              <a:t>Syntax: </a:t>
            </a:r>
            <a:r>
              <a:rPr lang="en-IE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this.numRooms</a:t>
            </a:r>
            <a:r>
              <a:rPr lang="en-IE" sz="2800" dirty="0"/>
              <a:t>: the </a:t>
            </a:r>
            <a:r>
              <a:rPr lang="en-IE" sz="2800" dirty="0" err="1"/>
              <a:t>numRooms</a:t>
            </a:r>
            <a:r>
              <a:rPr lang="en-IE" sz="2800" dirty="0"/>
              <a:t> belonging to THIS (the current) instance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B5956E-14DF-CA7E-B03D-8D14E4A0C471}"/>
              </a:ext>
            </a:extLst>
          </p:cNvPr>
          <p:cNvSpPr/>
          <p:nvPr/>
        </p:nvSpPr>
        <p:spPr>
          <a:xfrm>
            <a:off x="178278" y="6242732"/>
            <a:ext cx="5221857" cy="328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700" dirty="0" err="1"/>
              <a:t>slide_examples</a:t>
            </a:r>
            <a:r>
              <a:rPr lang="en-IE" sz="1700" dirty="0"/>
              <a:t>/</a:t>
            </a:r>
            <a:r>
              <a:rPr lang="en-IE" sz="1700" dirty="0" err="1"/>
              <a:t>introducing_classes</a:t>
            </a:r>
            <a:r>
              <a:rPr lang="en-IE" sz="1700" dirty="0"/>
              <a:t>/entities/House.java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2DB5B7-405C-36C0-FEA6-9A5023539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532" y="3904573"/>
            <a:ext cx="8387896" cy="1970926"/>
          </a:xfrm>
          <a:prstGeom prst="rect">
            <a:avLst/>
          </a:prstGeom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0AEE980-A1DA-EE51-3E9E-47B2A981FF09}"/>
              </a:ext>
            </a:extLst>
          </p:cNvPr>
          <p:cNvCxnSpPr>
            <a:cxnSpLocks/>
            <a:endCxn id="15" idx="3"/>
          </p:cNvCxnSpPr>
          <p:nvPr/>
        </p:nvCxnSpPr>
        <p:spPr>
          <a:xfrm rot="16200000" flipH="1">
            <a:off x="9685235" y="4254842"/>
            <a:ext cx="1209429" cy="60958"/>
          </a:xfrm>
          <a:prstGeom prst="bentConnector4">
            <a:avLst>
              <a:gd name="adj1" fmla="val 224"/>
              <a:gd name="adj2" fmla="val 4750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054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810BC49E-3D25-C255-DB23-D2717BFA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41" y="3324045"/>
            <a:ext cx="8408478" cy="2303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2DEFBC-11C0-FBEB-1DFB-D47004070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Behaviour:</a:t>
            </a:r>
            <a:br>
              <a:rPr lang="en-IE" dirty="0"/>
            </a:br>
            <a:r>
              <a:rPr lang="en-IE" dirty="0"/>
              <a:t>Calling a Method on an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1382E-E0A7-9912-6F1D-233613DB0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To call a specific method, we state:</a:t>
            </a:r>
          </a:p>
          <a:p>
            <a:pPr lvl="2"/>
            <a:r>
              <a:rPr lang="en-IE" sz="2800" dirty="0"/>
              <a:t>What method should be run</a:t>
            </a:r>
          </a:p>
          <a:p>
            <a:pPr lvl="2"/>
            <a:r>
              <a:rPr lang="en-IE" sz="2800" dirty="0"/>
              <a:t>Which object/instance should run it</a:t>
            </a:r>
          </a:p>
          <a:p>
            <a:pPr lvl="2"/>
            <a:endParaRPr lang="en-IE" sz="2800" dirty="0"/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8D8A6EA-CA37-609D-C06C-7A4AEB1BBADF}"/>
              </a:ext>
            </a:extLst>
          </p:cNvPr>
          <p:cNvGrpSpPr/>
          <p:nvPr/>
        </p:nvGrpSpPr>
        <p:grpSpPr>
          <a:xfrm>
            <a:off x="3835881" y="2579914"/>
            <a:ext cx="7016150" cy="2923739"/>
            <a:chOff x="4165987" y="2579914"/>
            <a:chExt cx="5696468" cy="292374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64BB52-1D61-52D3-36C6-ADD497598368}"/>
                </a:ext>
              </a:extLst>
            </p:cNvPr>
            <p:cNvGrpSpPr/>
            <p:nvPr/>
          </p:nvGrpSpPr>
          <p:grpSpPr>
            <a:xfrm>
              <a:off x="4165987" y="2579914"/>
              <a:ext cx="5696468" cy="2923740"/>
              <a:chOff x="722753" y="2205099"/>
              <a:chExt cx="2348251" cy="2987842"/>
            </a:xfrm>
          </p:grpSpPr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3201027B-66D8-8D88-5BBB-8CB16420CC1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22753" y="4951980"/>
                <a:ext cx="2348251" cy="240960"/>
              </a:xfrm>
              <a:prstGeom prst="bentConnector3">
                <a:avLst>
                  <a:gd name="adj1" fmla="val 99918"/>
                </a:avLst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E25DFF3B-68A1-62A3-1BC5-B376AFA527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1004" y="2205099"/>
                <a:ext cx="0" cy="2987842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1AB9F3A-B0F2-DD20-742F-F471B2819B93}"/>
                </a:ext>
              </a:extLst>
            </p:cNvPr>
            <p:cNvCxnSpPr>
              <a:cxnSpLocks/>
            </p:cNvCxnSpPr>
            <p:nvPr/>
          </p:nvCxnSpPr>
          <p:spPr>
            <a:xfrm>
              <a:off x="5772203" y="2592979"/>
              <a:ext cx="4090251" cy="0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9494A41-5C33-78E2-3C8C-0FD9C7E4A10A}"/>
              </a:ext>
            </a:extLst>
          </p:cNvPr>
          <p:cNvSpPr/>
          <p:nvPr/>
        </p:nvSpPr>
        <p:spPr>
          <a:xfrm>
            <a:off x="265932" y="5869094"/>
            <a:ext cx="5610143" cy="341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700" dirty="0" err="1"/>
              <a:t>slide_examples</a:t>
            </a:r>
            <a:r>
              <a:rPr lang="en-IE" sz="1700" dirty="0"/>
              <a:t>/</a:t>
            </a:r>
            <a:r>
              <a:rPr lang="en-IE" sz="1700" dirty="0" err="1"/>
              <a:t>introducing_classes</a:t>
            </a:r>
            <a:r>
              <a:rPr lang="en-IE" sz="1700" dirty="0"/>
              <a:t>/apps/HouseTestBed.java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C73052E-C33B-5AD4-3E2C-57D9FEAD00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1524" y="3666225"/>
            <a:ext cx="2110597" cy="874144"/>
          </a:xfrm>
          <a:prstGeom prst="bentConnector3">
            <a:avLst>
              <a:gd name="adj1" fmla="val 1004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70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54C729-F234-0BAF-C1AB-8F2A8575B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48" y="5230763"/>
            <a:ext cx="10137464" cy="7125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74CF74-9C4C-10C1-1CAC-A50C2800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Including Parameterized Behaviour:</a:t>
            </a:r>
            <a:br>
              <a:rPr lang="en-IE" dirty="0"/>
            </a:br>
            <a:r>
              <a:rPr lang="en-IE" dirty="0"/>
              <a:t>Customising the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4166-BF3F-123B-2B54-B9E6327CF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As with standard methods, we can include parameters in our instance methods: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We can use this method with our object and supply the specified parameter as normal: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3AC51FE-3D09-A3A1-5D06-7DC9553E00C3}"/>
              </a:ext>
            </a:extLst>
          </p:cNvPr>
          <p:cNvCxnSpPr>
            <a:cxnSpLocks/>
          </p:cNvCxnSpPr>
          <p:nvPr/>
        </p:nvCxnSpPr>
        <p:spPr>
          <a:xfrm>
            <a:off x="6659593" y="4552152"/>
            <a:ext cx="3697856" cy="945750"/>
          </a:xfrm>
          <a:prstGeom prst="bentConnector3">
            <a:avLst>
              <a:gd name="adj1" fmla="val 997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DCED47E-1DB9-14C3-F27C-AB244B900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005" y="2786650"/>
            <a:ext cx="6049990" cy="97415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206978-F384-5DEC-82C3-35B2B5E61427}"/>
              </a:ext>
            </a:extLst>
          </p:cNvPr>
          <p:cNvSpPr/>
          <p:nvPr/>
        </p:nvSpPr>
        <p:spPr>
          <a:xfrm>
            <a:off x="6189404" y="6191974"/>
            <a:ext cx="5610143" cy="3416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700" dirty="0" err="1"/>
              <a:t>slide_examples</a:t>
            </a:r>
            <a:r>
              <a:rPr lang="en-IE" sz="1700" dirty="0"/>
              <a:t>/</a:t>
            </a:r>
            <a:r>
              <a:rPr lang="en-IE" sz="1700" dirty="0" err="1"/>
              <a:t>introducing_classes</a:t>
            </a:r>
            <a:r>
              <a:rPr lang="en-IE" sz="1700" dirty="0"/>
              <a:t>/apps/HouseTestBed.java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43A03B-2777-F4F6-E61B-F3472CE7D972}"/>
              </a:ext>
            </a:extLst>
          </p:cNvPr>
          <p:cNvSpPr/>
          <p:nvPr/>
        </p:nvSpPr>
        <p:spPr>
          <a:xfrm>
            <a:off x="392453" y="6191974"/>
            <a:ext cx="5185962" cy="328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700" dirty="0" err="1"/>
              <a:t>slide_examples</a:t>
            </a:r>
            <a:r>
              <a:rPr lang="en-IE" sz="1700" dirty="0"/>
              <a:t>/</a:t>
            </a:r>
            <a:r>
              <a:rPr lang="en-IE" sz="1700" dirty="0" err="1"/>
              <a:t>introducing_classes</a:t>
            </a:r>
            <a:r>
              <a:rPr lang="en-IE" sz="1700" dirty="0"/>
              <a:t>/entities/House.java</a:t>
            </a:r>
          </a:p>
        </p:txBody>
      </p:sp>
    </p:spTree>
    <p:extLst>
      <p:ext uri="{BB962C8B-B14F-4D97-AF65-F5344CB8AC3E}">
        <p14:creationId xmlns:p14="http://schemas.microsoft.com/office/powerpoint/2010/main" val="16290878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10558</TotalTime>
  <Words>1451</Words>
  <Application>Microsoft Office PowerPoint</Application>
  <PresentationFormat>Widescreen</PresentationFormat>
  <Paragraphs>252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Calibri</vt:lpstr>
      <vt:lpstr>Calibri Light</vt:lpstr>
      <vt:lpstr>Consolas</vt:lpstr>
      <vt:lpstr>Retrospect</vt:lpstr>
      <vt:lpstr>Introducing Classes</vt:lpstr>
      <vt:lpstr>A Note on Programming Styles</vt:lpstr>
      <vt:lpstr>Introducing Objects and Classes</vt:lpstr>
      <vt:lpstr>Let’s Build a House</vt:lpstr>
      <vt:lpstr>Defining a House class:  The Blueprint for all Houses</vt:lpstr>
      <vt:lpstr>A Note on Class Names and  Naming Conventions</vt:lpstr>
      <vt:lpstr>Exercise: Good vs Bad Class Names</vt:lpstr>
      <vt:lpstr>Good Class Names!</vt:lpstr>
      <vt:lpstr>Bad Class Names: Verbs</vt:lpstr>
      <vt:lpstr>Bad Class Names: Underscores</vt:lpstr>
      <vt:lpstr>Bad Class Names: Not CapWords</vt:lpstr>
      <vt:lpstr>Troublesome Class Names</vt:lpstr>
      <vt:lpstr>Inserting Attributes:  Adding Detail to the House</vt:lpstr>
      <vt:lpstr>Terminology Check:  Instances and Attributes</vt:lpstr>
      <vt:lpstr>Creating an Instance:  Building a House in our Code</vt:lpstr>
      <vt:lpstr>Changing Attributes:  Customising Our House</vt:lpstr>
      <vt:lpstr>Behaviour and Classes:  Introducing Methods</vt:lpstr>
      <vt:lpstr>When We Use static</vt:lpstr>
      <vt:lpstr>When We DON’T Use static</vt:lpstr>
      <vt:lpstr>Adding Behaviour: Including Methods in our House</vt:lpstr>
      <vt:lpstr>Using Behaviour: Calling a Method on an Object</vt:lpstr>
      <vt:lpstr>Including Parameterized Behaviour: Customising the Behaviour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Classes</dc:title>
  <dc:creator>Michelle Graham</dc:creator>
  <cp:lastModifiedBy>Michelle Graham</cp:lastModifiedBy>
  <cp:revision>23</cp:revision>
  <dcterms:created xsi:type="dcterms:W3CDTF">2023-10-04T00:43:28Z</dcterms:created>
  <dcterms:modified xsi:type="dcterms:W3CDTF">2026-10-04T23:24:24Z</dcterms:modified>
</cp:coreProperties>
</file>